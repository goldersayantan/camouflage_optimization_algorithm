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mbria" panose="02040503050406030204" pitchFamily="18" charset="0"/>
      <p:regular r:id="rId16"/>
      <p:bold r:id="rId17"/>
      <p:italic r:id="rId18"/>
      <p:boldItalic r:id="rId19"/>
    </p:embeddedFont>
    <p:embeddedFont>
      <p:font typeface="Cambria Bold" panose="02040803050406030204" pitchFamily="18" charset="0"/>
      <p:regular r:id="rId20"/>
      <p:bold r:id="rId21"/>
    </p:embeddedFont>
    <p:embeddedFont>
      <p:font typeface="Cambria Bold Italics" panose="020B0604020202020204" charset="0"/>
      <p:regular r:id="rId22"/>
    </p:embeddedFont>
    <p:embeddedFont>
      <p:font typeface="Comic Sans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1191399" y="3827351"/>
            <a:ext cx="15905202" cy="0"/>
          </a:xfrm>
          <a:prstGeom prst="line">
            <a:avLst/>
          </a:prstGeom>
          <a:ln w="85725" cap="flat">
            <a:solidFill>
              <a:srgbClr val="A18F63"/>
            </a:solidFill>
            <a:prstDash val="solid"/>
            <a:headEnd type="none" w="sm" len="sm"/>
            <a:tailEnd type="none" w="sm" len="sm"/>
          </a:ln>
        </p:spPr>
      </p:sp>
      <p:sp>
        <p:nvSpPr>
          <p:cNvPr id="3" name="TextBox 3"/>
          <p:cNvSpPr txBox="1"/>
          <p:nvPr/>
        </p:nvSpPr>
        <p:spPr>
          <a:xfrm>
            <a:off x="514350" y="1236550"/>
            <a:ext cx="17259300" cy="2085976"/>
          </a:xfrm>
          <a:prstGeom prst="rect">
            <a:avLst/>
          </a:prstGeom>
        </p:spPr>
        <p:txBody>
          <a:bodyPr lIns="0" tIns="0" rIns="0" bIns="0" rtlCol="0" anchor="t">
            <a:spAutoFit/>
          </a:bodyPr>
          <a:lstStyle/>
          <a:p>
            <a:pPr algn="ctr">
              <a:lnSpc>
                <a:spcPts val="8399"/>
              </a:lnSpc>
            </a:pPr>
            <a:r>
              <a:rPr lang="en-US" sz="5999" b="1">
                <a:solidFill>
                  <a:srgbClr val="000000"/>
                </a:solidFill>
                <a:latin typeface="Cambria Bold"/>
                <a:ea typeface="Cambria Bold"/>
                <a:cs typeface="Cambria Bold"/>
                <a:sym typeface="Cambria Bold"/>
              </a:rPr>
              <a:t>Application of Novel Metaheuristic algorithms for problem solving</a:t>
            </a:r>
          </a:p>
        </p:txBody>
      </p:sp>
      <p:sp>
        <p:nvSpPr>
          <p:cNvPr id="4" name="TextBox 4"/>
          <p:cNvSpPr txBox="1"/>
          <p:nvPr/>
        </p:nvSpPr>
        <p:spPr>
          <a:xfrm>
            <a:off x="7605712" y="4231425"/>
            <a:ext cx="3503207" cy="688975"/>
          </a:xfrm>
          <a:prstGeom prst="rect">
            <a:avLst/>
          </a:prstGeom>
        </p:spPr>
        <p:txBody>
          <a:bodyPr lIns="0" tIns="0" rIns="0" bIns="0" rtlCol="0" anchor="t">
            <a:spAutoFit/>
          </a:bodyPr>
          <a:lstStyle/>
          <a:p>
            <a:pPr algn="just">
              <a:lnSpc>
                <a:spcPts val="5599"/>
              </a:lnSpc>
              <a:spcBef>
                <a:spcPct val="0"/>
              </a:spcBef>
            </a:pPr>
            <a:r>
              <a:rPr lang="en-US" sz="3999" b="1">
                <a:solidFill>
                  <a:srgbClr val="000000"/>
                </a:solidFill>
                <a:latin typeface="Cambria Bold"/>
                <a:ea typeface="Cambria Bold"/>
                <a:cs typeface="Cambria Bold"/>
                <a:sym typeface="Cambria Bold"/>
              </a:rPr>
              <a:t>Presented By</a:t>
            </a:r>
          </a:p>
        </p:txBody>
      </p:sp>
      <p:sp>
        <p:nvSpPr>
          <p:cNvPr id="5" name="TextBox 5"/>
          <p:cNvSpPr txBox="1"/>
          <p:nvPr/>
        </p:nvSpPr>
        <p:spPr>
          <a:xfrm>
            <a:off x="5318165" y="5310187"/>
            <a:ext cx="3349585" cy="869950"/>
          </a:xfrm>
          <a:prstGeom prst="rect">
            <a:avLst/>
          </a:prstGeom>
        </p:spPr>
        <p:txBody>
          <a:bodyPr lIns="0" tIns="0" rIns="0" bIns="0" rtlCol="0" anchor="t">
            <a:spAutoFit/>
          </a:bodyPr>
          <a:lstStyle/>
          <a:p>
            <a:pPr algn="ctr">
              <a:lnSpc>
                <a:spcPts val="3499"/>
              </a:lnSpc>
            </a:pPr>
            <a:r>
              <a:rPr lang="en-US" sz="2499" b="1">
                <a:solidFill>
                  <a:srgbClr val="000000"/>
                </a:solidFill>
                <a:latin typeface="Cambria Bold"/>
                <a:ea typeface="Cambria Bold"/>
                <a:cs typeface="Cambria Bold"/>
                <a:sym typeface="Cambria Bold"/>
              </a:rPr>
              <a:t>Sayantan Golder</a:t>
            </a:r>
          </a:p>
          <a:p>
            <a:pPr algn="ctr">
              <a:lnSpc>
                <a:spcPts val="3499"/>
              </a:lnSpc>
            </a:pPr>
            <a:r>
              <a:rPr lang="en-US" sz="2499" b="1">
                <a:solidFill>
                  <a:srgbClr val="000000"/>
                </a:solidFill>
                <a:latin typeface="Cambria Bold"/>
                <a:ea typeface="Cambria Bold"/>
                <a:cs typeface="Cambria Bold"/>
                <a:sym typeface="Cambria Bold"/>
              </a:rPr>
              <a:t>UG/02/BCA/2023/059</a:t>
            </a:r>
          </a:p>
        </p:txBody>
      </p:sp>
      <p:sp>
        <p:nvSpPr>
          <p:cNvPr id="6" name="TextBox 6"/>
          <p:cNvSpPr txBox="1"/>
          <p:nvPr/>
        </p:nvSpPr>
        <p:spPr>
          <a:xfrm>
            <a:off x="9621083" y="5310187"/>
            <a:ext cx="3349585" cy="869950"/>
          </a:xfrm>
          <a:prstGeom prst="rect">
            <a:avLst/>
          </a:prstGeom>
        </p:spPr>
        <p:txBody>
          <a:bodyPr lIns="0" tIns="0" rIns="0" bIns="0" rtlCol="0" anchor="t">
            <a:spAutoFit/>
          </a:bodyPr>
          <a:lstStyle/>
          <a:p>
            <a:pPr algn="ctr">
              <a:lnSpc>
                <a:spcPts val="3499"/>
              </a:lnSpc>
            </a:pPr>
            <a:r>
              <a:rPr lang="en-US" sz="2499" b="1">
                <a:solidFill>
                  <a:srgbClr val="000000"/>
                </a:solidFill>
                <a:latin typeface="Cambria Bold"/>
                <a:ea typeface="Cambria Bold"/>
                <a:cs typeface="Cambria Bold"/>
                <a:sym typeface="Cambria Bold"/>
              </a:rPr>
              <a:t>Debobrata Dutta</a:t>
            </a:r>
          </a:p>
          <a:p>
            <a:pPr algn="ctr">
              <a:lnSpc>
                <a:spcPts val="3499"/>
              </a:lnSpc>
            </a:pPr>
            <a:r>
              <a:rPr lang="en-US" sz="2499" b="1">
                <a:solidFill>
                  <a:srgbClr val="000000"/>
                </a:solidFill>
                <a:latin typeface="Cambria Bold"/>
                <a:ea typeface="Cambria Bold"/>
                <a:cs typeface="Cambria Bold"/>
                <a:sym typeface="Cambria Bold"/>
              </a:rPr>
              <a:t>UG/02/BCA/2023/068</a:t>
            </a:r>
          </a:p>
        </p:txBody>
      </p:sp>
      <p:sp>
        <p:nvSpPr>
          <p:cNvPr id="7" name="TextBox 7"/>
          <p:cNvSpPr txBox="1"/>
          <p:nvPr/>
        </p:nvSpPr>
        <p:spPr>
          <a:xfrm>
            <a:off x="1191399" y="5310188"/>
            <a:ext cx="3349585" cy="869950"/>
          </a:xfrm>
          <a:prstGeom prst="rect">
            <a:avLst/>
          </a:prstGeom>
        </p:spPr>
        <p:txBody>
          <a:bodyPr lIns="0" tIns="0" rIns="0" bIns="0" rtlCol="0" anchor="t">
            <a:spAutoFit/>
          </a:bodyPr>
          <a:lstStyle/>
          <a:p>
            <a:pPr algn="ctr">
              <a:lnSpc>
                <a:spcPts val="3499"/>
              </a:lnSpc>
            </a:pPr>
            <a:r>
              <a:rPr lang="en-US" sz="2499" b="1">
                <a:solidFill>
                  <a:srgbClr val="000000"/>
                </a:solidFill>
                <a:latin typeface="Cambria Bold"/>
                <a:ea typeface="Cambria Bold"/>
                <a:cs typeface="Cambria Bold"/>
                <a:sym typeface="Cambria Bold"/>
              </a:rPr>
              <a:t>Shreya Dasgupta</a:t>
            </a:r>
          </a:p>
          <a:p>
            <a:pPr algn="ctr">
              <a:lnSpc>
                <a:spcPts val="3499"/>
              </a:lnSpc>
            </a:pPr>
            <a:r>
              <a:rPr lang="en-US" sz="2499" b="1">
                <a:solidFill>
                  <a:srgbClr val="000000"/>
                </a:solidFill>
                <a:latin typeface="Cambria Bold"/>
                <a:ea typeface="Cambria Bold"/>
                <a:cs typeface="Cambria Bold"/>
                <a:sym typeface="Cambria Bold"/>
              </a:rPr>
              <a:t>UG/02/BCA/2023/015</a:t>
            </a:r>
          </a:p>
        </p:txBody>
      </p:sp>
      <p:sp>
        <p:nvSpPr>
          <p:cNvPr id="8" name="TextBox 8"/>
          <p:cNvSpPr txBox="1"/>
          <p:nvPr/>
        </p:nvSpPr>
        <p:spPr>
          <a:xfrm>
            <a:off x="13751719" y="5310187"/>
            <a:ext cx="3349585" cy="869950"/>
          </a:xfrm>
          <a:prstGeom prst="rect">
            <a:avLst/>
          </a:prstGeom>
        </p:spPr>
        <p:txBody>
          <a:bodyPr lIns="0" tIns="0" rIns="0" bIns="0" rtlCol="0" anchor="t">
            <a:spAutoFit/>
          </a:bodyPr>
          <a:lstStyle/>
          <a:p>
            <a:pPr algn="ctr">
              <a:lnSpc>
                <a:spcPts val="3499"/>
              </a:lnSpc>
            </a:pPr>
            <a:r>
              <a:rPr lang="en-US" sz="2499" b="1">
                <a:solidFill>
                  <a:srgbClr val="000000"/>
                </a:solidFill>
                <a:latin typeface="Cambria Bold"/>
                <a:ea typeface="Cambria Bold"/>
                <a:cs typeface="Cambria Bold"/>
                <a:sym typeface="Cambria Bold"/>
              </a:rPr>
              <a:t>Sneha Bhowmick</a:t>
            </a:r>
          </a:p>
          <a:p>
            <a:pPr algn="ctr">
              <a:lnSpc>
                <a:spcPts val="3499"/>
              </a:lnSpc>
            </a:pPr>
            <a:r>
              <a:rPr lang="en-US" sz="2499" b="1">
                <a:solidFill>
                  <a:srgbClr val="000000"/>
                </a:solidFill>
                <a:latin typeface="Cambria Bold"/>
                <a:ea typeface="Cambria Bold"/>
                <a:cs typeface="Cambria Bold"/>
                <a:sym typeface="Cambria Bold"/>
              </a:rPr>
              <a:t>UG/02/BCA/2023/070</a:t>
            </a:r>
          </a:p>
        </p:txBody>
      </p:sp>
      <p:sp>
        <p:nvSpPr>
          <p:cNvPr id="9" name="TextBox 9"/>
          <p:cNvSpPr txBox="1"/>
          <p:nvPr/>
        </p:nvSpPr>
        <p:spPr>
          <a:xfrm>
            <a:off x="7411358" y="6668257"/>
            <a:ext cx="3465284" cy="573362"/>
          </a:xfrm>
          <a:prstGeom prst="rect">
            <a:avLst/>
          </a:prstGeom>
        </p:spPr>
        <p:txBody>
          <a:bodyPr wrap="square" lIns="0" tIns="0" rIns="0" bIns="0" rtlCol="0" anchor="t">
            <a:spAutoFit/>
          </a:bodyPr>
          <a:lstStyle/>
          <a:p>
            <a:pPr algn="ctr">
              <a:lnSpc>
                <a:spcPts val="4900"/>
              </a:lnSpc>
              <a:spcBef>
                <a:spcPct val="0"/>
              </a:spcBef>
            </a:pPr>
            <a:r>
              <a:rPr lang="en-US" sz="3500" b="1" dirty="0">
                <a:solidFill>
                  <a:srgbClr val="000000"/>
                </a:solidFill>
                <a:latin typeface="Cambria Bold"/>
                <a:ea typeface="Cambria Bold"/>
                <a:cs typeface="Cambria Bold"/>
                <a:sym typeface="Cambria Bold"/>
              </a:rPr>
              <a:t>Project Guide</a:t>
            </a:r>
          </a:p>
        </p:txBody>
      </p:sp>
      <p:sp>
        <p:nvSpPr>
          <p:cNvPr id="10" name="TextBox 10"/>
          <p:cNvSpPr txBox="1"/>
          <p:nvPr/>
        </p:nvSpPr>
        <p:spPr>
          <a:xfrm>
            <a:off x="6407200" y="7367616"/>
            <a:ext cx="5473601" cy="834390"/>
          </a:xfrm>
          <a:prstGeom prst="rect">
            <a:avLst/>
          </a:prstGeom>
        </p:spPr>
        <p:txBody>
          <a:bodyPr lIns="0" tIns="0" rIns="0" bIns="0" rtlCol="0" anchor="t">
            <a:spAutoFit/>
          </a:bodyPr>
          <a:lstStyle/>
          <a:p>
            <a:pPr algn="ctr">
              <a:lnSpc>
                <a:spcPts val="3359"/>
              </a:lnSpc>
            </a:pPr>
            <a:r>
              <a:rPr lang="en-US" sz="2400" b="1">
                <a:solidFill>
                  <a:srgbClr val="000000"/>
                </a:solidFill>
                <a:latin typeface="Cambria Bold"/>
                <a:ea typeface="Cambria Bold"/>
                <a:cs typeface="Cambria Bold"/>
                <a:sym typeface="Cambria Bold"/>
              </a:rPr>
              <a:t>Dr. Tamal Ghosh</a:t>
            </a:r>
          </a:p>
          <a:p>
            <a:pPr algn="ctr">
              <a:lnSpc>
                <a:spcPts val="3359"/>
              </a:lnSpc>
            </a:pPr>
            <a:r>
              <a:rPr lang="en-US" sz="2400" b="1">
                <a:solidFill>
                  <a:srgbClr val="000000"/>
                </a:solidFill>
                <a:latin typeface="Cambria Bold"/>
                <a:ea typeface="Cambria Bold"/>
                <a:cs typeface="Cambria Bold"/>
                <a:sym typeface="Cambria Bold"/>
              </a:rPr>
              <a:t>Associate Professor, Adamas University</a:t>
            </a:r>
          </a:p>
        </p:txBody>
      </p:sp>
      <p:sp>
        <p:nvSpPr>
          <p:cNvPr id="11" name="TextBox 11"/>
          <p:cNvSpPr txBox="1"/>
          <p:nvPr/>
        </p:nvSpPr>
        <p:spPr>
          <a:xfrm>
            <a:off x="3213991" y="9013825"/>
            <a:ext cx="11860018" cy="431800"/>
          </a:xfrm>
          <a:prstGeom prst="rect">
            <a:avLst/>
          </a:prstGeom>
        </p:spPr>
        <p:txBody>
          <a:bodyPr lIns="0" tIns="0" rIns="0" bIns="0" rtlCol="0" anchor="t">
            <a:spAutoFit/>
          </a:bodyPr>
          <a:lstStyle/>
          <a:p>
            <a:pPr algn="just">
              <a:lnSpc>
                <a:spcPts val="3499"/>
              </a:lnSpc>
            </a:pPr>
            <a:r>
              <a:rPr lang="en-US" sz="2499" b="1">
                <a:solidFill>
                  <a:srgbClr val="000000"/>
                </a:solidFill>
                <a:latin typeface="Cambria Bold"/>
                <a:ea typeface="Cambria Bold"/>
                <a:cs typeface="Cambria Bold"/>
                <a:sym typeface="Cambria Bold"/>
              </a:rPr>
              <a:t>SCHOOL OF ENGINEERING AND TECHNOLOGY || ADAMAS UNIVERSITY || KOLKATA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915090" y="433523"/>
            <a:ext cx="4883912" cy="1038225"/>
          </a:xfrm>
          <a:prstGeom prst="rect">
            <a:avLst/>
          </a:prstGeom>
        </p:spPr>
        <p:txBody>
          <a:bodyPr lIns="0" tIns="0" rIns="0" bIns="0" rtlCol="0" anchor="t">
            <a:spAutoFit/>
          </a:bodyPr>
          <a:lstStyle/>
          <a:p>
            <a:pPr algn="just">
              <a:lnSpc>
                <a:spcPts val="8400"/>
              </a:lnSpc>
            </a:pPr>
            <a:r>
              <a:rPr lang="en-US" sz="6000" b="1">
                <a:solidFill>
                  <a:srgbClr val="000000"/>
                </a:solidFill>
                <a:latin typeface="Cambria Bold"/>
                <a:ea typeface="Cambria Bold"/>
                <a:cs typeface="Cambria Bold"/>
                <a:sym typeface="Cambria Bold"/>
              </a:rPr>
              <a:t>Introduction</a:t>
            </a:r>
          </a:p>
        </p:txBody>
      </p:sp>
      <p:sp>
        <p:nvSpPr>
          <p:cNvPr id="3" name="TextBox 3"/>
          <p:cNvSpPr txBox="1"/>
          <p:nvPr/>
        </p:nvSpPr>
        <p:spPr>
          <a:xfrm>
            <a:off x="568124" y="1702551"/>
            <a:ext cx="17212623" cy="1563072"/>
          </a:xfrm>
          <a:prstGeom prst="rect">
            <a:avLst/>
          </a:prstGeom>
        </p:spPr>
        <p:txBody>
          <a:bodyPr lIns="0" tIns="0" rIns="0" bIns="0" rtlCol="0" anchor="t">
            <a:spAutoFit/>
          </a:bodyPr>
          <a:lstStyle/>
          <a:p>
            <a:pPr algn="just">
              <a:lnSpc>
                <a:spcPts val="3080"/>
              </a:lnSpc>
            </a:pPr>
            <a:r>
              <a:rPr lang="en-US" sz="2200" b="1">
                <a:solidFill>
                  <a:srgbClr val="000000"/>
                </a:solidFill>
                <a:latin typeface="Cambria Bold"/>
                <a:ea typeface="Cambria Bold"/>
                <a:cs typeface="Cambria Bold"/>
                <a:sym typeface="Cambria Bold"/>
              </a:rPr>
              <a:t>Optimization</a:t>
            </a:r>
            <a:r>
              <a:rPr lang="en-US" sz="2200">
                <a:solidFill>
                  <a:srgbClr val="000000"/>
                </a:solidFill>
                <a:latin typeface="Cambria"/>
                <a:ea typeface="Cambria"/>
                <a:cs typeface="Cambria"/>
                <a:sym typeface="Cambria"/>
              </a:rPr>
              <a:t> is the process of finding the </a:t>
            </a:r>
            <a:r>
              <a:rPr lang="en-US" sz="2200" b="1">
                <a:solidFill>
                  <a:srgbClr val="000000"/>
                </a:solidFill>
                <a:latin typeface="Cambria Bold"/>
                <a:ea typeface="Cambria Bold"/>
                <a:cs typeface="Cambria Bold"/>
                <a:sym typeface="Cambria Bold"/>
              </a:rPr>
              <a:t>best possible solution</a:t>
            </a:r>
            <a:r>
              <a:rPr lang="en-US" sz="2200">
                <a:solidFill>
                  <a:srgbClr val="000000"/>
                </a:solidFill>
                <a:latin typeface="Cambria"/>
                <a:ea typeface="Cambria"/>
                <a:cs typeface="Cambria"/>
                <a:sym typeface="Cambria"/>
              </a:rPr>
              <a:t> among feasible options while </a:t>
            </a:r>
            <a:r>
              <a:rPr lang="en-US" sz="2200" b="1">
                <a:solidFill>
                  <a:srgbClr val="000000"/>
                </a:solidFill>
                <a:latin typeface="Cambria Bold"/>
                <a:ea typeface="Cambria Bold"/>
                <a:cs typeface="Cambria Bold"/>
                <a:sym typeface="Cambria Bold"/>
              </a:rPr>
              <a:t>satisfying constraints</a:t>
            </a:r>
            <a:r>
              <a:rPr lang="en-US" sz="2200">
                <a:solidFill>
                  <a:srgbClr val="000000"/>
                </a:solidFill>
                <a:latin typeface="Cambria"/>
                <a:ea typeface="Cambria"/>
                <a:cs typeface="Cambria"/>
                <a:sym typeface="Cambria"/>
              </a:rPr>
              <a:t>. It focuses on improving </a:t>
            </a:r>
            <a:r>
              <a:rPr lang="en-US" sz="2200" b="1">
                <a:solidFill>
                  <a:srgbClr val="000000"/>
                </a:solidFill>
                <a:latin typeface="Cambria Bold"/>
                <a:ea typeface="Cambria Bold"/>
                <a:cs typeface="Cambria Bold"/>
                <a:sym typeface="Cambria Bold"/>
              </a:rPr>
              <a:t>efficiency</a:t>
            </a:r>
            <a:r>
              <a:rPr lang="en-US" sz="2200">
                <a:solidFill>
                  <a:srgbClr val="000000"/>
                </a:solidFill>
                <a:latin typeface="Cambria"/>
                <a:ea typeface="Cambria"/>
                <a:cs typeface="Cambria"/>
                <a:sym typeface="Cambria"/>
              </a:rPr>
              <a:t>, </a:t>
            </a:r>
            <a:r>
              <a:rPr lang="en-US" sz="2200" b="1">
                <a:solidFill>
                  <a:srgbClr val="000000"/>
                </a:solidFill>
                <a:latin typeface="Cambria Bold"/>
                <a:ea typeface="Cambria Bold"/>
                <a:cs typeface="Cambria Bold"/>
                <a:sym typeface="Cambria Bold"/>
              </a:rPr>
              <a:t>accuracy</a:t>
            </a:r>
            <a:r>
              <a:rPr lang="en-US" sz="2200">
                <a:solidFill>
                  <a:srgbClr val="000000"/>
                </a:solidFill>
                <a:latin typeface="Cambria"/>
                <a:ea typeface="Cambria"/>
                <a:cs typeface="Cambria"/>
                <a:sym typeface="Cambria"/>
              </a:rPr>
              <a:t>, and </a:t>
            </a:r>
            <a:r>
              <a:rPr lang="en-US" sz="2200" b="1">
                <a:solidFill>
                  <a:srgbClr val="000000"/>
                </a:solidFill>
                <a:latin typeface="Cambria Bold"/>
                <a:ea typeface="Cambria Bold"/>
                <a:cs typeface="Cambria Bold"/>
                <a:sym typeface="Cambria Bold"/>
              </a:rPr>
              <a:t>resource utilization</a:t>
            </a:r>
            <a:r>
              <a:rPr lang="en-US" sz="2200">
                <a:solidFill>
                  <a:srgbClr val="000000"/>
                </a:solidFill>
                <a:latin typeface="Cambria"/>
                <a:ea typeface="Cambria"/>
                <a:cs typeface="Cambria"/>
                <a:sym typeface="Cambria"/>
              </a:rPr>
              <a:t>, making it essential in </a:t>
            </a:r>
            <a:r>
              <a:rPr lang="en-US" sz="2200" b="1">
                <a:solidFill>
                  <a:srgbClr val="000000"/>
                </a:solidFill>
                <a:latin typeface="Cambria Bold"/>
                <a:ea typeface="Cambria Bold"/>
                <a:cs typeface="Cambria Bold"/>
                <a:sym typeface="Cambria Bold"/>
              </a:rPr>
              <a:t>real world problem solving</a:t>
            </a:r>
            <a:r>
              <a:rPr lang="en-US" sz="2200">
                <a:solidFill>
                  <a:srgbClr val="000000"/>
                </a:solidFill>
                <a:latin typeface="Cambria"/>
                <a:ea typeface="Cambria"/>
                <a:cs typeface="Cambria"/>
                <a:sym typeface="Cambria"/>
              </a:rPr>
              <a:t>. As a </a:t>
            </a:r>
            <a:r>
              <a:rPr lang="en-US" sz="2200" b="1">
                <a:solidFill>
                  <a:srgbClr val="000000"/>
                </a:solidFill>
                <a:latin typeface="Cambria Bold"/>
                <a:ea typeface="Cambria Bold"/>
                <a:cs typeface="Cambria Bold"/>
                <a:sym typeface="Cambria Bold"/>
              </a:rPr>
              <a:t>foundation of modern science</a:t>
            </a:r>
            <a:r>
              <a:rPr lang="en-US" sz="2200">
                <a:solidFill>
                  <a:srgbClr val="000000"/>
                </a:solidFill>
                <a:latin typeface="Cambria"/>
                <a:ea typeface="Cambria"/>
                <a:cs typeface="Cambria"/>
                <a:sym typeface="Cambria"/>
              </a:rPr>
              <a:t> and </a:t>
            </a:r>
            <a:r>
              <a:rPr lang="en-US" sz="2200" b="1">
                <a:solidFill>
                  <a:srgbClr val="000000"/>
                </a:solidFill>
                <a:latin typeface="Cambria Bold"/>
                <a:ea typeface="Cambria Bold"/>
                <a:cs typeface="Cambria Bold"/>
                <a:sym typeface="Cambria Bold"/>
              </a:rPr>
              <a:t>engineering</a:t>
            </a:r>
            <a:r>
              <a:rPr lang="en-US" sz="2200">
                <a:solidFill>
                  <a:srgbClr val="000000"/>
                </a:solidFill>
                <a:latin typeface="Cambria"/>
                <a:ea typeface="Cambria"/>
                <a:cs typeface="Cambria"/>
                <a:sym typeface="Cambria"/>
              </a:rPr>
              <a:t>, optimization is widely used to </a:t>
            </a:r>
            <a:r>
              <a:rPr lang="en-US" sz="2200" b="1">
                <a:solidFill>
                  <a:srgbClr val="000000"/>
                </a:solidFill>
                <a:latin typeface="Cambria Bold"/>
                <a:ea typeface="Cambria Bold"/>
                <a:cs typeface="Cambria Bold"/>
                <a:sym typeface="Cambria Bold"/>
              </a:rPr>
              <a:t>enhance performance</a:t>
            </a:r>
            <a:r>
              <a:rPr lang="en-US" sz="2200">
                <a:solidFill>
                  <a:srgbClr val="000000"/>
                </a:solidFill>
                <a:latin typeface="Cambria"/>
                <a:ea typeface="Cambria"/>
                <a:cs typeface="Cambria"/>
                <a:sym typeface="Cambria"/>
              </a:rPr>
              <a:t>, </a:t>
            </a:r>
            <a:r>
              <a:rPr lang="en-US" sz="2200" b="1">
                <a:solidFill>
                  <a:srgbClr val="000000"/>
                </a:solidFill>
                <a:latin typeface="Cambria Bold"/>
                <a:ea typeface="Cambria Bold"/>
                <a:cs typeface="Cambria Bold"/>
                <a:sym typeface="Cambria Bold"/>
              </a:rPr>
              <a:t>reduce costs</a:t>
            </a:r>
            <a:r>
              <a:rPr lang="en-US" sz="2200">
                <a:solidFill>
                  <a:srgbClr val="000000"/>
                </a:solidFill>
                <a:latin typeface="Cambria"/>
                <a:ea typeface="Cambria"/>
                <a:cs typeface="Cambria"/>
                <a:sym typeface="Cambria"/>
              </a:rPr>
              <a:t>, </a:t>
            </a:r>
            <a:r>
              <a:rPr lang="en-US" sz="2200" b="1">
                <a:solidFill>
                  <a:srgbClr val="000000"/>
                </a:solidFill>
                <a:latin typeface="Cambria Bold"/>
                <a:ea typeface="Cambria Bold"/>
                <a:cs typeface="Cambria Bold"/>
                <a:sym typeface="Cambria Bold"/>
              </a:rPr>
              <a:t>design efficient systems</a:t>
            </a:r>
            <a:r>
              <a:rPr lang="en-US" sz="2200">
                <a:solidFill>
                  <a:srgbClr val="000000"/>
                </a:solidFill>
                <a:latin typeface="Cambria"/>
                <a:ea typeface="Cambria"/>
                <a:cs typeface="Cambria"/>
                <a:sym typeface="Cambria"/>
              </a:rPr>
              <a:t>, and </a:t>
            </a:r>
            <a:r>
              <a:rPr lang="en-US" sz="2200" b="1">
                <a:solidFill>
                  <a:srgbClr val="000000"/>
                </a:solidFill>
                <a:latin typeface="Cambria Bold"/>
                <a:ea typeface="Cambria Bold"/>
                <a:cs typeface="Cambria Bold"/>
                <a:sym typeface="Cambria Bold"/>
              </a:rPr>
              <a:t>train Al models</a:t>
            </a:r>
            <a:r>
              <a:rPr lang="en-US" sz="2200">
                <a:solidFill>
                  <a:srgbClr val="000000"/>
                </a:solidFill>
                <a:latin typeface="Cambria"/>
                <a:ea typeface="Cambria"/>
                <a:cs typeface="Cambria"/>
                <a:sym typeface="Cambria"/>
              </a:rPr>
              <a:t>, aiming to achieve the most effective outcome.</a:t>
            </a:r>
          </a:p>
        </p:txBody>
      </p:sp>
      <p:sp>
        <p:nvSpPr>
          <p:cNvPr id="4" name="TextBox 4"/>
          <p:cNvSpPr txBox="1"/>
          <p:nvPr/>
        </p:nvSpPr>
        <p:spPr>
          <a:xfrm>
            <a:off x="628994" y="3561968"/>
            <a:ext cx="3034394" cy="615950"/>
          </a:xfrm>
          <a:prstGeom prst="rect">
            <a:avLst/>
          </a:prstGeom>
        </p:spPr>
        <p:txBody>
          <a:bodyPr lIns="0" tIns="0" rIns="0" bIns="0" rtlCol="0" anchor="t">
            <a:spAutoFit/>
          </a:bodyPr>
          <a:lstStyle/>
          <a:p>
            <a:pPr algn="just">
              <a:lnSpc>
                <a:spcPts val="4900"/>
              </a:lnSpc>
            </a:pPr>
            <a:r>
              <a:rPr lang="en-US" sz="3500" b="1">
                <a:solidFill>
                  <a:srgbClr val="000000"/>
                </a:solidFill>
                <a:latin typeface="Cambria Bold"/>
                <a:ea typeface="Cambria Bold"/>
                <a:cs typeface="Cambria Bold"/>
                <a:sym typeface="Cambria Bold"/>
              </a:rPr>
              <a:t>Application</a:t>
            </a:r>
          </a:p>
        </p:txBody>
      </p:sp>
      <p:sp>
        <p:nvSpPr>
          <p:cNvPr id="5" name="TextBox 5"/>
          <p:cNvSpPr txBox="1"/>
          <p:nvPr/>
        </p:nvSpPr>
        <p:spPr>
          <a:xfrm>
            <a:off x="628994" y="4273167"/>
            <a:ext cx="17182188" cy="782171"/>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Optimization is widely used across many domains, it plays a crucial role in various aspects of our daily lives, impacting industries, services, and decision-making processes. Major applications of optimization through industrial revolution are:</a:t>
            </a:r>
          </a:p>
        </p:txBody>
      </p:sp>
      <p:grpSp>
        <p:nvGrpSpPr>
          <p:cNvPr id="6" name="Group 6"/>
          <p:cNvGrpSpPr/>
          <p:nvPr/>
        </p:nvGrpSpPr>
        <p:grpSpPr>
          <a:xfrm>
            <a:off x="546238" y="5236314"/>
            <a:ext cx="3694804" cy="1827528"/>
            <a:chOff x="0" y="0"/>
            <a:chExt cx="4926405" cy="2436704"/>
          </a:xfrm>
        </p:grpSpPr>
        <p:grpSp>
          <p:nvGrpSpPr>
            <p:cNvPr id="7" name="Group 7"/>
            <p:cNvGrpSpPr/>
            <p:nvPr/>
          </p:nvGrpSpPr>
          <p:grpSpPr>
            <a:xfrm>
              <a:off x="0" y="0"/>
              <a:ext cx="4926405" cy="2436704"/>
              <a:chOff x="0" y="0"/>
              <a:chExt cx="973117" cy="481324"/>
            </a:xfrm>
          </p:grpSpPr>
          <p:sp>
            <p:nvSpPr>
              <p:cNvPr id="8" name="Freeform 8"/>
              <p:cNvSpPr/>
              <p:nvPr/>
            </p:nvSpPr>
            <p:spPr>
              <a:xfrm>
                <a:off x="0" y="0"/>
                <a:ext cx="973117" cy="481324"/>
              </a:xfrm>
              <a:custGeom>
                <a:avLst/>
                <a:gdLst/>
                <a:ahLst/>
                <a:cxnLst/>
                <a:rect l="l" t="t" r="r" b="b"/>
                <a:pathLst>
                  <a:path w="973117" h="481324">
                    <a:moveTo>
                      <a:pt x="41907" y="0"/>
                    </a:moveTo>
                    <a:lnTo>
                      <a:pt x="931210" y="0"/>
                    </a:lnTo>
                    <a:cubicBezTo>
                      <a:pt x="942324" y="0"/>
                      <a:pt x="952984" y="4415"/>
                      <a:pt x="960843" y="12274"/>
                    </a:cubicBezTo>
                    <a:cubicBezTo>
                      <a:pt x="968702" y="20133"/>
                      <a:pt x="973117" y="30793"/>
                      <a:pt x="973117" y="41907"/>
                    </a:cubicBezTo>
                    <a:lnTo>
                      <a:pt x="973117" y="439417"/>
                    </a:lnTo>
                    <a:cubicBezTo>
                      <a:pt x="973117" y="450532"/>
                      <a:pt x="968702" y="461191"/>
                      <a:pt x="960843" y="469050"/>
                    </a:cubicBezTo>
                    <a:cubicBezTo>
                      <a:pt x="952984" y="476909"/>
                      <a:pt x="942324" y="481324"/>
                      <a:pt x="931210" y="481324"/>
                    </a:cubicBezTo>
                    <a:lnTo>
                      <a:pt x="41907" y="481324"/>
                    </a:lnTo>
                    <a:cubicBezTo>
                      <a:pt x="18762" y="481324"/>
                      <a:pt x="0" y="462562"/>
                      <a:pt x="0" y="439417"/>
                    </a:cubicBezTo>
                    <a:lnTo>
                      <a:pt x="0" y="41907"/>
                    </a:lnTo>
                    <a:cubicBezTo>
                      <a:pt x="0" y="30793"/>
                      <a:pt x="4415" y="20133"/>
                      <a:pt x="12274" y="12274"/>
                    </a:cubicBezTo>
                    <a:cubicBezTo>
                      <a:pt x="20133" y="4415"/>
                      <a:pt x="30793" y="0"/>
                      <a:pt x="41907" y="0"/>
                    </a:cubicBezTo>
                    <a:close/>
                  </a:path>
                </a:pathLst>
              </a:custGeom>
              <a:solidFill>
                <a:srgbClr val="FFFFFF"/>
              </a:solidFill>
              <a:ln w="95250" cap="sq">
                <a:solidFill>
                  <a:srgbClr val="AFAF9E"/>
                </a:solidFill>
                <a:prstDash val="solid"/>
                <a:miter/>
              </a:ln>
            </p:spPr>
          </p:sp>
          <p:sp>
            <p:nvSpPr>
              <p:cNvPr id="9" name="TextBox 9"/>
              <p:cNvSpPr txBox="1"/>
              <p:nvPr/>
            </p:nvSpPr>
            <p:spPr>
              <a:xfrm>
                <a:off x="0" y="-38100"/>
                <a:ext cx="973117" cy="519424"/>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322236" y="505718"/>
              <a:ext cx="1906055" cy="1480154"/>
            </a:xfrm>
            <a:custGeom>
              <a:avLst/>
              <a:gdLst/>
              <a:ahLst/>
              <a:cxnLst/>
              <a:rect l="l" t="t" r="r" b="b"/>
              <a:pathLst>
                <a:path w="1906055" h="1480154">
                  <a:moveTo>
                    <a:pt x="0" y="0"/>
                  </a:moveTo>
                  <a:lnTo>
                    <a:pt x="1906055" y="0"/>
                  </a:lnTo>
                  <a:lnTo>
                    <a:pt x="1906055" y="1480154"/>
                  </a:lnTo>
                  <a:lnTo>
                    <a:pt x="0" y="1480154"/>
                  </a:lnTo>
                  <a:lnTo>
                    <a:pt x="0" y="0"/>
                  </a:lnTo>
                  <a:close/>
                </a:path>
              </a:pathLst>
            </a:custGeom>
            <a:blipFill>
              <a:blip r:embed="rId2"/>
              <a:stretch>
                <a:fillRect l="-7788" t="-27688" r="-10395" b="-24502"/>
              </a:stretch>
            </a:blipFill>
          </p:spPr>
        </p:sp>
        <p:sp>
          <p:nvSpPr>
            <p:cNvPr id="11" name="TextBox 11"/>
            <p:cNvSpPr txBox="1"/>
            <p:nvPr/>
          </p:nvSpPr>
          <p:spPr>
            <a:xfrm>
              <a:off x="2132882" y="455657"/>
              <a:ext cx="2522767" cy="1618377"/>
            </a:xfrm>
            <a:prstGeom prst="rect">
              <a:avLst/>
            </a:prstGeom>
          </p:spPr>
          <p:txBody>
            <a:bodyPr lIns="0" tIns="0" rIns="0" bIns="0" rtlCol="0" anchor="t">
              <a:spAutoFit/>
            </a:bodyPr>
            <a:lstStyle/>
            <a:p>
              <a:pPr algn="r">
                <a:lnSpc>
                  <a:spcPts val="2399"/>
                </a:lnSpc>
              </a:pPr>
              <a:r>
                <a:rPr lang="en-US" sz="2399" b="1" i="1">
                  <a:solidFill>
                    <a:srgbClr val="000000"/>
                  </a:solidFill>
                  <a:latin typeface="Cambria Bold Italics"/>
                  <a:ea typeface="Cambria Bold Italics"/>
                  <a:cs typeface="Cambria Bold Italics"/>
                  <a:sym typeface="Cambria Bold Italics"/>
                </a:rPr>
                <a:t>Artificial Intelligence</a:t>
              </a:r>
            </a:p>
            <a:p>
              <a:pPr algn="r">
                <a:lnSpc>
                  <a:spcPts val="2399"/>
                </a:lnSpc>
              </a:pPr>
              <a:r>
                <a:rPr lang="en-US" sz="2399" b="1" i="1">
                  <a:solidFill>
                    <a:srgbClr val="000000"/>
                  </a:solidFill>
                  <a:latin typeface="Cambria Bold Italics"/>
                  <a:ea typeface="Cambria Bold Italics"/>
                  <a:cs typeface="Cambria Bold Italics"/>
                  <a:sym typeface="Cambria Bold Italics"/>
                </a:rPr>
                <a:t>&amp; Machine Learning</a:t>
              </a:r>
            </a:p>
          </p:txBody>
        </p:sp>
      </p:grpSp>
      <p:grpSp>
        <p:nvGrpSpPr>
          <p:cNvPr id="12" name="Group 12"/>
          <p:cNvGrpSpPr/>
          <p:nvPr/>
        </p:nvGrpSpPr>
        <p:grpSpPr>
          <a:xfrm>
            <a:off x="5047625" y="5236314"/>
            <a:ext cx="3694804" cy="1868692"/>
            <a:chOff x="0" y="0"/>
            <a:chExt cx="4926405" cy="2491590"/>
          </a:xfrm>
        </p:grpSpPr>
        <p:grpSp>
          <p:nvGrpSpPr>
            <p:cNvPr id="13" name="Group 13"/>
            <p:cNvGrpSpPr/>
            <p:nvPr/>
          </p:nvGrpSpPr>
          <p:grpSpPr>
            <a:xfrm>
              <a:off x="0" y="0"/>
              <a:ext cx="4926405" cy="2491590"/>
              <a:chOff x="0" y="0"/>
              <a:chExt cx="973117" cy="492166"/>
            </a:xfrm>
          </p:grpSpPr>
          <p:sp>
            <p:nvSpPr>
              <p:cNvPr id="14" name="Freeform 14"/>
              <p:cNvSpPr/>
              <p:nvPr/>
            </p:nvSpPr>
            <p:spPr>
              <a:xfrm>
                <a:off x="0" y="0"/>
                <a:ext cx="973117" cy="492166"/>
              </a:xfrm>
              <a:custGeom>
                <a:avLst/>
                <a:gdLst/>
                <a:ahLst/>
                <a:cxnLst/>
                <a:rect l="l" t="t" r="r" b="b"/>
                <a:pathLst>
                  <a:path w="973117" h="492166">
                    <a:moveTo>
                      <a:pt x="41907" y="0"/>
                    </a:moveTo>
                    <a:lnTo>
                      <a:pt x="931210" y="0"/>
                    </a:lnTo>
                    <a:cubicBezTo>
                      <a:pt x="942324" y="0"/>
                      <a:pt x="952984" y="4415"/>
                      <a:pt x="960843" y="12274"/>
                    </a:cubicBezTo>
                    <a:cubicBezTo>
                      <a:pt x="968702" y="20133"/>
                      <a:pt x="973117" y="30793"/>
                      <a:pt x="973117" y="41907"/>
                    </a:cubicBezTo>
                    <a:lnTo>
                      <a:pt x="973117" y="450259"/>
                    </a:lnTo>
                    <a:cubicBezTo>
                      <a:pt x="973117" y="473403"/>
                      <a:pt x="954355" y="492166"/>
                      <a:pt x="931210" y="492166"/>
                    </a:cubicBezTo>
                    <a:lnTo>
                      <a:pt x="41907" y="492166"/>
                    </a:lnTo>
                    <a:cubicBezTo>
                      <a:pt x="30793" y="492166"/>
                      <a:pt x="20133" y="487751"/>
                      <a:pt x="12274" y="479892"/>
                    </a:cubicBezTo>
                    <a:cubicBezTo>
                      <a:pt x="4415" y="472032"/>
                      <a:pt x="0" y="461373"/>
                      <a:pt x="0" y="450259"/>
                    </a:cubicBezTo>
                    <a:lnTo>
                      <a:pt x="0" y="41907"/>
                    </a:lnTo>
                    <a:cubicBezTo>
                      <a:pt x="0" y="30793"/>
                      <a:pt x="4415" y="20133"/>
                      <a:pt x="12274" y="12274"/>
                    </a:cubicBezTo>
                    <a:cubicBezTo>
                      <a:pt x="20133" y="4415"/>
                      <a:pt x="30793" y="0"/>
                      <a:pt x="41907" y="0"/>
                    </a:cubicBezTo>
                    <a:close/>
                  </a:path>
                </a:pathLst>
              </a:custGeom>
              <a:solidFill>
                <a:srgbClr val="FFFFFF"/>
              </a:solidFill>
              <a:ln w="95250" cap="sq">
                <a:solidFill>
                  <a:srgbClr val="AFAF9E"/>
                </a:solidFill>
                <a:prstDash val="solid"/>
                <a:miter/>
              </a:ln>
            </p:spPr>
          </p:sp>
          <p:sp>
            <p:nvSpPr>
              <p:cNvPr id="15" name="TextBox 15"/>
              <p:cNvSpPr txBox="1"/>
              <p:nvPr/>
            </p:nvSpPr>
            <p:spPr>
              <a:xfrm>
                <a:off x="0" y="-38100"/>
                <a:ext cx="973117" cy="530266"/>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310785" y="386428"/>
              <a:ext cx="1762836" cy="1718733"/>
            </a:xfrm>
            <a:custGeom>
              <a:avLst/>
              <a:gdLst/>
              <a:ahLst/>
              <a:cxnLst/>
              <a:rect l="l" t="t" r="r" b="b"/>
              <a:pathLst>
                <a:path w="1762836" h="1718733">
                  <a:moveTo>
                    <a:pt x="0" y="0"/>
                  </a:moveTo>
                  <a:lnTo>
                    <a:pt x="1762837" y="0"/>
                  </a:lnTo>
                  <a:lnTo>
                    <a:pt x="1762837" y="1718734"/>
                  </a:lnTo>
                  <a:lnTo>
                    <a:pt x="0" y="1718734"/>
                  </a:lnTo>
                  <a:lnTo>
                    <a:pt x="0" y="0"/>
                  </a:lnTo>
                  <a:close/>
                </a:path>
              </a:pathLst>
            </a:custGeom>
            <a:blipFill>
              <a:blip r:embed="rId3"/>
              <a:stretch>
                <a:fillRect l="-12526" r="-15866" b="-4282"/>
              </a:stretch>
            </a:blipFill>
          </p:spPr>
        </p:sp>
        <p:sp>
          <p:nvSpPr>
            <p:cNvPr id="17" name="TextBox 17"/>
            <p:cNvSpPr txBox="1"/>
            <p:nvPr/>
          </p:nvSpPr>
          <p:spPr>
            <a:xfrm>
              <a:off x="2073622" y="612912"/>
              <a:ext cx="2577095" cy="1303866"/>
            </a:xfrm>
            <a:prstGeom prst="rect">
              <a:avLst/>
            </a:prstGeom>
          </p:spPr>
          <p:txBody>
            <a:bodyPr lIns="0" tIns="0" rIns="0" bIns="0" rtlCol="0" anchor="t">
              <a:spAutoFit/>
            </a:bodyPr>
            <a:lstStyle/>
            <a:p>
              <a:pPr algn="r">
                <a:lnSpc>
                  <a:spcPts val="2499"/>
                </a:lnSpc>
              </a:pPr>
              <a:r>
                <a:rPr lang="en-US" sz="2499" b="1">
                  <a:solidFill>
                    <a:srgbClr val="000000"/>
                  </a:solidFill>
                  <a:latin typeface="Cambria Bold"/>
                  <a:ea typeface="Cambria Bold"/>
                  <a:cs typeface="Cambria Bold"/>
                  <a:sym typeface="Cambria Bold"/>
                </a:rPr>
                <a:t>Business</a:t>
              </a:r>
            </a:p>
            <a:p>
              <a:pPr algn="r">
                <a:lnSpc>
                  <a:spcPts val="2499"/>
                </a:lnSpc>
              </a:pPr>
              <a:r>
                <a:rPr lang="en-US" sz="2499" b="1">
                  <a:solidFill>
                    <a:srgbClr val="000000"/>
                  </a:solidFill>
                  <a:latin typeface="Cambria Bold"/>
                  <a:ea typeface="Cambria Bold"/>
                  <a:cs typeface="Cambria Bold"/>
                  <a:sym typeface="Cambria Bold"/>
                </a:rPr>
                <a:t>&amp;</a:t>
              </a:r>
            </a:p>
            <a:p>
              <a:pPr algn="r">
                <a:lnSpc>
                  <a:spcPts val="2499"/>
                </a:lnSpc>
              </a:pPr>
              <a:r>
                <a:rPr lang="en-US" sz="2499" b="1">
                  <a:solidFill>
                    <a:srgbClr val="000000"/>
                  </a:solidFill>
                  <a:latin typeface="Cambria Bold"/>
                  <a:ea typeface="Cambria Bold"/>
                  <a:cs typeface="Cambria Bold"/>
                  <a:sym typeface="Cambria Bold"/>
                </a:rPr>
                <a:t>Management</a:t>
              </a:r>
            </a:p>
          </p:txBody>
        </p:sp>
      </p:grpSp>
      <p:grpSp>
        <p:nvGrpSpPr>
          <p:cNvPr id="18" name="Group 18"/>
          <p:cNvGrpSpPr/>
          <p:nvPr/>
        </p:nvGrpSpPr>
        <p:grpSpPr>
          <a:xfrm>
            <a:off x="9542529" y="5236314"/>
            <a:ext cx="4109317" cy="1868692"/>
            <a:chOff x="0" y="0"/>
            <a:chExt cx="5479090" cy="2491590"/>
          </a:xfrm>
        </p:grpSpPr>
        <p:grpSp>
          <p:nvGrpSpPr>
            <p:cNvPr id="19" name="Group 19"/>
            <p:cNvGrpSpPr/>
            <p:nvPr/>
          </p:nvGrpSpPr>
          <p:grpSpPr>
            <a:xfrm>
              <a:off x="0" y="0"/>
              <a:ext cx="5479090" cy="2491590"/>
              <a:chOff x="0" y="0"/>
              <a:chExt cx="1082289" cy="492166"/>
            </a:xfrm>
          </p:grpSpPr>
          <p:sp>
            <p:nvSpPr>
              <p:cNvPr id="20" name="Freeform 20"/>
              <p:cNvSpPr/>
              <p:nvPr/>
            </p:nvSpPr>
            <p:spPr>
              <a:xfrm>
                <a:off x="0" y="0"/>
                <a:ext cx="1082289" cy="492166"/>
              </a:xfrm>
              <a:custGeom>
                <a:avLst/>
                <a:gdLst/>
                <a:ahLst/>
                <a:cxnLst/>
                <a:rect l="l" t="t" r="r" b="b"/>
                <a:pathLst>
                  <a:path w="1082289" h="492166">
                    <a:moveTo>
                      <a:pt x="37680" y="0"/>
                    </a:moveTo>
                    <a:lnTo>
                      <a:pt x="1044609" y="0"/>
                    </a:lnTo>
                    <a:cubicBezTo>
                      <a:pt x="1054603" y="0"/>
                      <a:pt x="1064187" y="3970"/>
                      <a:pt x="1071253" y="11036"/>
                    </a:cubicBezTo>
                    <a:cubicBezTo>
                      <a:pt x="1078319" y="18103"/>
                      <a:pt x="1082289" y="27687"/>
                      <a:pt x="1082289" y="37680"/>
                    </a:cubicBezTo>
                    <a:lnTo>
                      <a:pt x="1082289" y="454486"/>
                    </a:lnTo>
                    <a:cubicBezTo>
                      <a:pt x="1082289" y="475296"/>
                      <a:pt x="1065419" y="492166"/>
                      <a:pt x="1044609" y="492166"/>
                    </a:cubicBezTo>
                    <a:lnTo>
                      <a:pt x="37680" y="492166"/>
                    </a:lnTo>
                    <a:cubicBezTo>
                      <a:pt x="27687" y="492166"/>
                      <a:pt x="18103" y="488196"/>
                      <a:pt x="11036" y="481130"/>
                    </a:cubicBezTo>
                    <a:cubicBezTo>
                      <a:pt x="3970" y="474063"/>
                      <a:pt x="0" y="464479"/>
                      <a:pt x="0" y="454486"/>
                    </a:cubicBezTo>
                    <a:lnTo>
                      <a:pt x="0" y="37680"/>
                    </a:lnTo>
                    <a:cubicBezTo>
                      <a:pt x="0" y="27687"/>
                      <a:pt x="3970" y="18103"/>
                      <a:pt x="11036" y="11036"/>
                    </a:cubicBezTo>
                    <a:cubicBezTo>
                      <a:pt x="18103" y="3970"/>
                      <a:pt x="27687" y="0"/>
                      <a:pt x="37680" y="0"/>
                    </a:cubicBezTo>
                    <a:close/>
                  </a:path>
                </a:pathLst>
              </a:custGeom>
              <a:solidFill>
                <a:srgbClr val="FFFFFF"/>
              </a:solidFill>
              <a:ln w="95250" cap="sq">
                <a:solidFill>
                  <a:srgbClr val="AFAF9E"/>
                </a:solidFill>
                <a:prstDash val="solid"/>
                <a:miter/>
              </a:ln>
            </p:spPr>
          </p:sp>
          <p:sp>
            <p:nvSpPr>
              <p:cNvPr id="21" name="TextBox 21"/>
              <p:cNvSpPr txBox="1"/>
              <p:nvPr/>
            </p:nvSpPr>
            <p:spPr>
              <a:xfrm>
                <a:off x="0" y="-38100"/>
                <a:ext cx="1082289" cy="530266"/>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flipH="1">
              <a:off x="295028" y="402206"/>
              <a:ext cx="1966335" cy="1514572"/>
            </a:xfrm>
            <a:custGeom>
              <a:avLst/>
              <a:gdLst/>
              <a:ahLst/>
              <a:cxnLst/>
              <a:rect l="l" t="t" r="r" b="b"/>
              <a:pathLst>
                <a:path w="1966335" h="1514572">
                  <a:moveTo>
                    <a:pt x="1966336" y="0"/>
                  </a:moveTo>
                  <a:lnTo>
                    <a:pt x="0" y="0"/>
                  </a:lnTo>
                  <a:lnTo>
                    <a:pt x="0" y="1514572"/>
                  </a:lnTo>
                  <a:lnTo>
                    <a:pt x="1966336" y="1514572"/>
                  </a:lnTo>
                  <a:lnTo>
                    <a:pt x="1966336" y="0"/>
                  </a:lnTo>
                  <a:close/>
                </a:path>
              </a:pathLst>
            </a:custGeom>
            <a:blipFill>
              <a:blip r:embed="rId4"/>
              <a:stretch>
                <a:fillRect l="-5782" r="-9833"/>
              </a:stretch>
            </a:blipFill>
          </p:spPr>
        </p:sp>
        <p:sp>
          <p:nvSpPr>
            <p:cNvPr id="23" name="TextBox 23"/>
            <p:cNvSpPr txBox="1"/>
            <p:nvPr/>
          </p:nvSpPr>
          <p:spPr>
            <a:xfrm>
              <a:off x="2092814" y="612912"/>
              <a:ext cx="3094122" cy="1303866"/>
            </a:xfrm>
            <a:prstGeom prst="rect">
              <a:avLst/>
            </a:prstGeom>
          </p:spPr>
          <p:txBody>
            <a:bodyPr lIns="0" tIns="0" rIns="0" bIns="0" rtlCol="0" anchor="t">
              <a:spAutoFit/>
            </a:bodyPr>
            <a:lstStyle/>
            <a:p>
              <a:pPr marL="0" lvl="0" indent="0" algn="r">
                <a:lnSpc>
                  <a:spcPts val="2499"/>
                </a:lnSpc>
                <a:spcBef>
                  <a:spcPct val="0"/>
                </a:spcBef>
              </a:pPr>
              <a:r>
                <a:rPr lang="en-US" sz="2499" b="1" u="none" strike="noStrike">
                  <a:solidFill>
                    <a:srgbClr val="000000"/>
                  </a:solidFill>
                  <a:latin typeface="Cambria Bold"/>
                  <a:ea typeface="Cambria Bold"/>
                  <a:cs typeface="Cambria Bold"/>
                  <a:sym typeface="Cambria Bold"/>
                </a:rPr>
                <a:t>Logistics</a:t>
              </a:r>
            </a:p>
            <a:p>
              <a:pPr marL="0" lvl="0" indent="0" algn="r">
                <a:lnSpc>
                  <a:spcPts val="2499"/>
                </a:lnSpc>
                <a:spcBef>
                  <a:spcPct val="0"/>
                </a:spcBef>
              </a:pPr>
              <a:r>
                <a:rPr lang="en-US" sz="2499" b="1" u="none" strike="noStrike">
                  <a:solidFill>
                    <a:srgbClr val="000000"/>
                  </a:solidFill>
                  <a:latin typeface="Cambria Bold"/>
                  <a:ea typeface="Cambria Bold"/>
                  <a:cs typeface="Cambria Bold"/>
                  <a:sym typeface="Cambria Bold"/>
                </a:rPr>
                <a:t>&amp;</a:t>
              </a:r>
            </a:p>
            <a:p>
              <a:pPr marL="0" lvl="0" indent="0" algn="r">
                <a:lnSpc>
                  <a:spcPts val="2499"/>
                </a:lnSpc>
                <a:spcBef>
                  <a:spcPct val="0"/>
                </a:spcBef>
              </a:pPr>
              <a:r>
                <a:rPr lang="en-US" sz="2499" b="1" u="none" strike="noStrike">
                  <a:solidFill>
                    <a:srgbClr val="000000"/>
                  </a:solidFill>
                  <a:latin typeface="Cambria Bold"/>
                  <a:ea typeface="Cambria Bold"/>
                  <a:cs typeface="Cambria Bold"/>
                  <a:sym typeface="Cambria Bold"/>
                </a:rPr>
                <a:t>Transportation</a:t>
              </a:r>
            </a:p>
          </p:txBody>
        </p:sp>
      </p:grpSp>
      <p:grpSp>
        <p:nvGrpSpPr>
          <p:cNvPr id="24" name="Group 24"/>
          <p:cNvGrpSpPr/>
          <p:nvPr/>
        </p:nvGrpSpPr>
        <p:grpSpPr>
          <a:xfrm>
            <a:off x="14046958" y="5236314"/>
            <a:ext cx="3694804" cy="1868692"/>
            <a:chOff x="0" y="0"/>
            <a:chExt cx="4926405" cy="2491590"/>
          </a:xfrm>
        </p:grpSpPr>
        <p:grpSp>
          <p:nvGrpSpPr>
            <p:cNvPr id="25" name="Group 25"/>
            <p:cNvGrpSpPr/>
            <p:nvPr/>
          </p:nvGrpSpPr>
          <p:grpSpPr>
            <a:xfrm>
              <a:off x="0" y="0"/>
              <a:ext cx="4926405" cy="2491590"/>
              <a:chOff x="0" y="0"/>
              <a:chExt cx="973117" cy="492166"/>
            </a:xfrm>
          </p:grpSpPr>
          <p:sp>
            <p:nvSpPr>
              <p:cNvPr id="26" name="Freeform 26"/>
              <p:cNvSpPr/>
              <p:nvPr/>
            </p:nvSpPr>
            <p:spPr>
              <a:xfrm>
                <a:off x="0" y="0"/>
                <a:ext cx="973117" cy="492166"/>
              </a:xfrm>
              <a:custGeom>
                <a:avLst/>
                <a:gdLst/>
                <a:ahLst/>
                <a:cxnLst/>
                <a:rect l="l" t="t" r="r" b="b"/>
                <a:pathLst>
                  <a:path w="973117" h="492166">
                    <a:moveTo>
                      <a:pt x="41907" y="0"/>
                    </a:moveTo>
                    <a:lnTo>
                      <a:pt x="931210" y="0"/>
                    </a:lnTo>
                    <a:cubicBezTo>
                      <a:pt x="942324" y="0"/>
                      <a:pt x="952984" y="4415"/>
                      <a:pt x="960843" y="12274"/>
                    </a:cubicBezTo>
                    <a:cubicBezTo>
                      <a:pt x="968702" y="20133"/>
                      <a:pt x="973117" y="30793"/>
                      <a:pt x="973117" y="41907"/>
                    </a:cubicBezTo>
                    <a:lnTo>
                      <a:pt x="973117" y="450259"/>
                    </a:lnTo>
                    <a:cubicBezTo>
                      <a:pt x="973117" y="473403"/>
                      <a:pt x="954355" y="492166"/>
                      <a:pt x="931210" y="492166"/>
                    </a:cubicBezTo>
                    <a:lnTo>
                      <a:pt x="41907" y="492166"/>
                    </a:lnTo>
                    <a:cubicBezTo>
                      <a:pt x="30793" y="492166"/>
                      <a:pt x="20133" y="487751"/>
                      <a:pt x="12274" y="479892"/>
                    </a:cubicBezTo>
                    <a:cubicBezTo>
                      <a:pt x="4415" y="472032"/>
                      <a:pt x="0" y="461373"/>
                      <a:pt x="0" y="450259"/>
                    </a:cubicBezTo>
                    <a:lnTo>
                      <a:pt x="0" y="41907"/>
                    </a:lnTo>
                    <a:cubicBezTo>
                      <a:pt x="0" y="30793"/>
                      <a:pt x="4415" y="20133"/>
                      <a:pt x="12274" y="12274"/>
                    </a:cubicBezTo>
                    <a:cubicBezTo>
                      <a:pt x="20133" y="4415"/>
                      <a:pt x="30793" y="0"/>
                      <a:pt x="41907" y="0"/>
                    </a:cubicBezTo>
                    <a:close/>
                  </a:path>
                </a:pathLst>
              </a:custGeom>
              <a:solidFill>
                <a:srgbClr val="FFFFFF"/>
              </a:solidFill>
              <a:ln w="95250" cap="sq">
                <a:solidFill>
                  <a:srgbClr val="AFAF9E"/>
                </a:solidFill>
                <a:prstDash val="solid"/>
                <a:miter/>
              </a:ln>
            </p:spPr>
          </p:sp>
          <p:sp>
            <p:nvSpPr>
              <p:cNvPr id="27" name="TextBox 27"/>
              <p:cNvSpPr txBox="1"/>
              <p:nvPr/>
            </p:nvSpPr>
            <p:spPr>
              <a:xfrm>
                <a:off x="0" y="-38100"/>
                <a:ext cx="973117" cy="530266"/>
              </a:xfrm>
              <a:prstGeom prst="rect">
                <a:avLst/>
              </a:prstGeom>
            </p:spPr>
            <p:txBody>
              <a:bodyPr lIns="50800" tIns="50800" rIns="50800" bIns="50800" rtlCol="0" anchor="ctr"/>
              <a:lstStyle/>
              <a:p>
                <a:pPr algn="ctr">
                  <a:lnSpc>
                    <a:spcPts val="2659"/>
                  </a:lnSpc>
                </a:pPr>
                <a:endParaRPr/>
              </a:p>
            </p:txBody>
          </p:sp>
        </p:grpSp>
        <p:sp>
          <p:nvSpPr>
            <p:cNvPr id="28" name="Freeform 28"/>
            <p:cNvSpPr/>
            <p:nvPr/>
          </p:nvSpPr>
          <p:spPr>
            <a:xfrm>
              <a:off x="210541" y="392157"/>
              <a:ext cx="1596916" cy="1602163"/>
            </a:xfrm>
            <a:custGeom>
              <a:avLst/>
              <a:gdLst/>
              <a:ahLst/>
              <a:cxnLst/>
              <a:rect l="l" t="t" r="r" b="b"/>
              <a:pathLst>
                <a:path w="1596916" h="1602163">
                  <a:moveTo>
                    <a:pt x="0" y="0"/>
                  </a:moveTo>
                  <a:lnTo>
                    <a:pt x="1596916" y="0"/>
                  </a:lnTo>
                  <a:lnTo>
                    <a:pt x="1596916" y="1602163"/>
                  </a:lnTo>
                  <a:lnTo>
                    <a:pt x="0" y="1602163"/>
                  </a:lnTo>
                  <a:lnTo>
                    <a:pt x="0" y="0"/>
                  </a:lnTo>
                  <a:close/>
                </a:path>
              </a:pathLst>
            </a:custGeom>
            <a:blipFill>
              <a:blip r:embed="rId5"/>
              <a:stretch>
                <a:fillRect l="-15648" t="-12515" r="-17614" b="-20311"/>
              </a:stretch>
            </a:blipFill>
          </p:spPr>
        </p:sp>
        <p:sp>
          <p:nvSpPr>
            <p:cNvPr id="29" name="TextBox 29"/>
            <p:cNvSpPr txBox="1"/>
            <p:nvPr/>
          </p:nvSpPr>
          <p:spPr>
            <a:xfrm>
              <a:off x="1716564" y="455657"/>
              <a:ext cx="2969322" cy="1618377"/>
            </a:xfrm>
            <a:prstGeom prst="rect">
              <a:avLst/>
            </a:prstGeom>
          </p:spPr>
          <p:txBody>
            <a:bodyPr lIns="0" tIns="0" rIns="0" bIns="0" rtlCol="0" anchor="t">
              <a:spAutoFit/>
            </a:bodyPr>
            <a:lstStyle/>
            <a:p>
              <a:pPr algn="r">
                <a:lnSpc>
                  <a:spcPts val="2399"/>
                </a:lnSpc>
              </a:pPr>
              <a:r>
                <a:rPr lang="en-US" sz="2399" b="1" i="1">
                  <a:solidFill>
                    <a:srgbClr val="000000"/>
                  </a:solidFill>
                  <a:latin typeface="Cambria Bold Italics"/>
                  <a:ea typeface="Cambria Bold Italics"/>
                  <a:cs typeface="Cambria Bold Italics"/>
                  <a:sym typeface="Cambria Bold Italics"/>
                </a:rPr>
                <a:t>Networking</a:t>
              </a:r>
            </a:p>
            <a:p>
              <a:pPr algn="r">
                <a:lnSpc>
                  <a:spcPts val="2399"/>
                </a:lnSpc>
              </a:pPr>
              <a:r>
                <a:rPr lang="en-US" sz="2399" b="1" i="1">
                  <a:solidFill>
                    <a:srgbClr val="000000"/>
                  </a:solidFill>
                  <a:latin typeface="Cambria Bold Italics"/>
                  <a:ea typeface="Cambria Bold Italics"/>
                  <a:cs typeface="Cambria Bold Italics"/>
                  <a:sym typeface="Cambria Bold Italics"/>
                </a:rPr>
                <a:t>&amp;</a:t>
              </a:r>
            </a:p>
            <a:p>
              <a:pPr algn="r">
                <a:lnSpc>
                  <a:spcPts val="2399"/>
                </a:lnSpc>
              </a:pPr>
              <a:r>
                <a:rPr lang="en-US" sz="2399" b="1" i="1">
                  <a:solidFill>
                    <a:srgbClr val="000000"/>
                  </a:solidFill>
                  <a:latin typeface="Cambria Bold Italics"/>
                  <a:ea typeface="Cambria Bold Italics"/>
                  <a:cs typeface="Cambria Bold Italics"/>
                  <a:sym typeface="Cambria Bold Italics"/>
                </a:rPr>
                <a:t>Wireless Communication</a:t>
              </a:r>
            </a:p>
          </p:txBody>
        </p:sp>
      </p:grpSp>
      <p:sp>
        <p:nvSpPr>
          <p:cNvPr id="30" name="TextBox 30"/>
          <p:cNvSpPr txBox="1"/>
          <p:nvPr/>
        </p:nvSpPr>
        <p:spPr>
          <a:xfrm>
            <a:off x="568124" y="7410875"/>
            <a:ext cx="7768510" cy="615950"/>
          </a:xfrm>
          <a:prstGeom prst="rect">
            <a:avLst/>
          </a:prstGeom>
        </p:spPr>
        <p:txBody>
          <a:bodyPr lIns="0" tIns="0" rIns="0" bIns="0" rtlCol="0" anchor="t">
            <a:spAutoFit/>
          </a:bodyPr>
          <a:lstStyle/>
          <a:p>
            <a:pPr algn="just">
              <a:lnSpc>
                <a:spcPts val="4900"/>
              </a:lnSpc>
            </a:pPr>
            <a:r>
              <a:rPr lang="en-US" sz="3500" b="1">
                <a:solidFill>
                  <a:srgbClr val="000000"/>
                </a:solidFill>
                <a:latin typeface="Cambria Bold"/>
                <a:ea typeface="Cambria Bold"/>
                <a:cs typeface="Cambria Bold"/>
                <a:sym typeface="Cambria Bold"/>
              </a:rPr>
              <a:t>Rise Of Nature Inspired Algorithms</a:t>
            </a:r>
          </a:p>
        </p:txBody>
      </p:sp>
      <p:sp>
        <p:nvSpPr>
          <p:cNvPr id="31" name="TextBox 31"/>
          <p:cNvSpPr txBox="1"/>
          <p:nvPr/>
        </p:nvSpPr>
        <p:spPr>
          <a:xfrm>
            <a:off x="598559" y="8122075"/>
            <a:ext cx="17212623" cy="1172622"/>
          </a:xfrm>
          <a:prstGeom prst="rect">
            <a:avLst/>
          </a:prstGeom>
        </p:spPr>
        <p:txBody>
          <a:bodyPr lIns="0" tIns="0" rIns="0" bIns="0" rtlCol="0" anchor="t">
            <a:spAutoFit/>
          </a:bodyPr>
          <a:lstStyle/>
          <a:p>
            <a:pPr marL="0" lvl="0" indent="0" algn="just">
              <a:lnSpc>
                <a:spcPts val="3080"/>
              </a:lnSpc>
              <a:spcBef>
                <a:spcPct val="0"/>
              </a:spcBef>
            </a:pPr>
            <a:r>
              <a:rPr lang="en-US" sz="2200" b="1" u="none" strike="noStrike">
                <a:solidFill>
                  <a:srgbClr val="000000"/>
                </a:solidFill>
                <a:latin typeface="Cambria Bold"/>
                <a:ea typeface="Cambria Bold"/>
                <a:cs typeface="Cambria Bold"/>
                <a:sym typeface="Cambria Bold"/>
              </a:rPr>
              <a:t>Nature-Inspired Metaheuristics</a:t>
            </a:r>
            <a:r>
              <a:rPr lang="en-US" sz="2200" u="none" strike="noStrike">
                <a:solidFill>
                  <a:srgbClr val="000000"/>
                </a:solidFill>
                <a:latin typeface="Cambria"/>
                <a:ea typeface="Cambria"/>
                <a:cs typeface="Cambria"/>
                <a:sym typeface="Cambria"/>
              </a:rPr>
              <a:t> are optimization techniques developed to solve </a:t>
            </a:r>
            <a:r>
              <a:rPr lang="en-US" sz="2200" b="1" u="none" strike="noStrike">
                <a:solidFill>
                  <a:srgbClr val="000000"/>
                </a:solidFill>
                <a:latin typeface="Cambria Bold"/>
                <a:ea typeface="Cambria Bold"/>
                <a:cs typeface="Cambria Bold"/>
                <a:sym typeface="Cambria Bold"/>
              </a:rPr>
              <a:t>complex</a:t>
            </a:r>
            <a:r>
              <a:rPr lang="en-US" sz="2200" u="none" strike="noStrike">
                <a:solidFill>
                  <a:srgbClr val="000000"/>
                </a:solidFill>
                <a:latin typeface="Cambria"/>
                <a:ea typeface="Cambria"/>
                <a:cs typeface="Cambria"/>
                <a:sym typeface="Cambria"/>
              </a:rPr>
              <a:t>, </a:t>
            </a:r>
            <a:r>
              <a:rPr lang="en-US" sz="2200" b="1" u="none" strike="noStrike">
                <a:solidFill>
                  <a:srgbClr val="000000"/>
                </a:solidFill>
                <a:latin typeface="Cambria Bold"/>
                <a:ea typeface="Cambria Bold"/>
                <a:cs typeface="Cambria Bold"/>
                <a:sym typeface="Cambria Bold"/>
              </a:rPr>
              <a:t>non-linear</a:t>
            </a:r>
            <a:r>
              <a:rPr lang="en-US" sz="2200" u="none" strike="noStrike">
                <a:solidFill>
                  <a:srgbClr val="000000"/>
                </a:solidFill>
                <a:latin typeface="Cambria"/>
                <a:ea typeface="Cambria"/>
                <a:cs typeface="Cambria"/>
                <a:sym typeface="Cambria"/>
              </a:rPr>
              <a:t>, and </a:t>
            </a:r>
            <a:r>
              <a:rPr lang="en-US" sz="2200" b="1" u="none" strike="noStrike">
                <a:solidFill>
                  <a:srgbClr val="000000"/>
                </a:solidFill>
                <a:latin typeface="Cambria Bold"/>
                <a:ea typeface="Cambria Bold"/>
                <a:cs typeface="Cambria Bold"/>
                <a:sym typeface="Cambria Bold"/>
              </a:rPr>
              <a:t>high-dimensional problems</a:t>
            </a:r>
            <a:r>
              <a:rPr lang="en-US" sz="2200" u="none" strike="noStrike">
                <a:solidFill>
                  <a:srgbClr val="000000"/>
                </a:solidFill>
                <a:latin typeface="Cambria"/>
                <a:ea typeface="Cambria"/>
                <a:cs typeface="Cambria"/>
                <a:sym typeface="Cambria"/>
              </a:rPr>
              <a:t> where traditional methods fail. Inspired by </a:t>
            </a:r>
            <a:r>
              <a:rPr lang="en-US" sz="2200" b="1" u="none" strike="noStrike">
                <a:solidFill>
                  <a:srgbClr val="000000"/>
                </a:solidFill>
                <a:latin typeface="Cambria Bold"/>
                <a:ea typeface="Cambria Bold"/>
                <a:cs typeface="Cambria Bold"/>
                <a:sym typeface="Cambria Bold"/>
              </a:rPr>
              <a:t>natural phenomena</a:t>
            </a:r>
            <a:r>
              <a:rPr lang="en-US" sz="2200" u="none" strike="noStrike">
                <a:solidFill>
                  <a:srgbClr val="000000"/>
                </a:solidFill>
                <a:latin typeface="Cambria"/>
                <a:ea typeface="Cambria"/>
                <a:cs typeface="Cambria"/>
                <a:sym typeface="Cambria"/>
              </a:rPr>
              <a:t> like </a:t>
            </a:r>
            <a:r>
              <a:rPr lang="en-US" sz="2200" b="1" u="none" strike="noStrike">
                <a:solidFill>
                  <a:srgbClr val="000000"/>
                </a:solidFill>
                <a:latin typeface="Cambria Bold"/>
                <a:ea typeface="Cambria Bold"/>
                <a:cs typeface="Cambria Bold"/>
                <a:sym typeface="Cambria Bold"/>
              </a:rPr>
              <a:t>evolution</a:t>
            </a:r>
            <a:r>
              <a:rPr lang="en-US" sz="2200" u="none" strike="noStrike">
                <a:solidFill>
                  <a:srgbClr val="000000"/>
                </a:solidFill>
                <a:latin typeface="Cambria"/>
                <a:ea typeface="Cambria"/>
                <a:cs typeface="Cambria"/>
                <a:sym typeface="Cambria"/>
              </a:rPr>
              <a:t>, </a:t>
            </a:r>
            <a:r>
              <a:rPr lang="en-US" sz="2200" b="1" u="none" strike="noStrike">
                <a:solidFill>
                  <a:srgbClr val="000000"/>
                </a:solidFill>
                <a:latin typeface="Cambria Bold"/>
                <a:ea typeface="Cambria Bold"/>
                <a:cs typeface="Cambria Bold"/>
                <a:sym typeface="Cambria Bold"/>
              </a:rPr>
              <a:t>partical swarm optimization</a:t>
            </a:r>
            <a:r>
              <a:rPr lang="en-US" sz="2200" u="none" strike="noStrike">
                <a:solidFill>
                  <a:srgbClr val="000000"/>
                </a:solidFill>
                <a:latin typeface="Cambria"/>
                <a:ea typeface="Cambria"/>
                <a:cs typeface="Cambria"/>
                <a:sym typeface="Cambria"/>
              </a:rPr>
              <a:t>, </a:t>
            </a:r>
            <a:r>
              <a:rPr lang="en-US" sz="2200" b="1" u="none" strike="noStrike">
                <a:solidFill>
                  <a:srgbClr val="000000"/>
                </a:solidFill>
                <a:latin typeface="Cambria Bold"/>
                <a:ea typeface="Cambria Bold"/>
                <a:cs typeface="Cambria Bold"/>
                <a:sym typeface="Cambria Bold"/>
              </a:rPr>
              <a:t>chameleon hunting behavior</a:t>
            </a:r>
            <a:r>
              <a:rPr lang="en-US" sz="2200" u="none" strike="noStrike">
                <a:solidFill>
                  <a:srgbClr val="000000"/>
                </a:solidFill>
                <a:latin typeface="Cambria"/>
                <a:ea typeface="Cambria"/>
                <a:cs typeface="Cambria"/>
                <a:sym typeface="Cambria"/>
              </a:rPr>
              <a:t>, and </a:t>
            </a:r>
            <a:r>
              <a:rPr lang="en-US" sz="2200" b="1" u="none" strike="noStrike">
                <a:solidFill>
                  <a:srgbClr val="000000"/>
                </a:solidFill>
                <a:latin typeface="Cambria Bold"/>
                <a:ea typeface="Cambria Bold"/>
                <a:cs typeface="Cambria Bold"/>
                <a:sym typeface="Cambria Bold"/>
              </a:rPr>
              <a:t>dune formation in deserts,</a:t>
            </a:r>
            <a:r>
              <a:rPr lang="en-US" sz="2200" u="none" strike="noStrike">
                <a:solidFill>
                  <a:srgbClr val="000000"/>
                </a:solidFill>
                <a:latin typeface="Cambria"/>
                <a:ea typeface="Cambria"/>
                <a:cs typeface="Cambria"/>
                <a:sym typeface="Cambria"/>
              </a:rPr>
              <a:t> these algorithms are </a:t>
            </a:r>
            <a:r>
              <a:rPr lang="en-US" sz="2200" b="1" u="none" strike="noStrike">
                <a:solidFill>
                  <a:srgbClr val="000000"/>
                </a:solidFill>
                <a:latin typeface="Cambria Bold"/>
                <a:ea typeface="Cambria Bold"/>
                <a:cs typeface="Cambria Bold"/>
                <a:sym typeface="Cambria Bold"/>
              </a:rPr>
              <a:t>flexible</a:t>
            </a:r>
            <a:r>
              <a:rPr lang="en-US" sz="2200" u="none" strike="noStrike">
                <a:solidFill>
                  <a:srgbClr val="000000"/>
                </a:solidFill>
                <a:latin typeface="Cambria"/>
                <a:ea typeface="Cambria"/>
                <a:cs typeface="Cambria"/>
                <a:sym typeface="Cambria"/>
              </a:rPr>
              <a:t> and </a:t>
            </a:r>
            <a:r>
              <a:rPr lang="en-US" sz="2200" b="1" u="none" strike="noStrike">
                <a:solidFill>
                  <a:srgbClr val="000000"/>
                </a:solidFill>
                <a:latin typeface="Cambria Bold"/>
                <a:ea typeface="Cambria Bold"/>
                <a:cs typeface="Cambria Bold"/>
                <a:sym typeface="Cambria Bold"/>
              </a:rPr>
              <a:t>effective in finding near-optimal solutions</a:t>
            </a:r>
            <a:r>
              <a:rPr lang="en-US" sz="2200" u="none" strike="noStrike">
                <a:solidFill>
                  <a:srgbClr val="000000"/>
                </a:solidFill>
                <a:latin typeface="Cambria"/>
                <a:ea typeface="Cambria"/>
                <a:cs typeface="Cambria"/>
                <a:sym typeface="Cambria"/>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69828" y="447675"/>
            <a:ext cx="8493294" cy="1038225"/>
          </a:xfrm>
          <a:prstGeom prst="rect">
            <a:avLst/>
          </a:prstGeom>
        </p:spPr>
        <p:txBody>
          <a:bodyPr lIns="0" tIns="0" rIns="0" bIns="0" rtlCol="0" anchor="t">
            <a:spAutoFit/>
          </a:bodyPr>
          <a:lstStyle/>
          <a:p>
            <a:pPr algn="just">
              <a:lnSpc>
                <a:spcPts val="8400"/>
              </a:lnSpc>
            </a:pPr>
            <a:r>
              <a:rPr lang="en-US" sz="6000" b="1">
                <a:solidFill>
                  <a:srgbClr val="000000"/>
                </a:solidFill>
                <a:latin typeface="Cambria Bold"/>
                <a:ea typeface="Cambria Bold"/>
                <a:cs typeface="Cambria Bold"/>
                <a:sym typeface="Cambria Bold"/>
              </a:rPr>
              <a:t>Problem Statement</a:t>
            </a:r>
          </a:p>
        </p:txBody>
      </p:sp>
      <p:sp>
        <p:nvSpPr>
          <p:cNvPr id="3" name="TextBox 3"/>
          <p:cNvSpPr txBox="1"/>
          <p:nvPr/>
        </p:nvSpPr>
        <p:spPr>
          <a:xfrm>
            <a:off x="1028700" y="1815235"/>
            <a:ext cx="8413336" cy="479425"/>
          </a:xfrm>
          <a:prstGeom prst="rect">
            <a:avLst/>
          </a:prstGeom>
        </p:spPr>
        <p:txBody>
          <a:bodyPr lIns="0" tIns="0" rIns="0" bIns="0" rtlCol="0" anchor="t">
            <a:spAutoFit/>
          </a:bodyPr>
          <a:lstStyle/>
          <a:p>
            <a:pPr algn="l">
              <a:lnSpc>
                <a:spcPts val="3500"/>
              </a:lnSpc>
              <a:spcBef>
                <a:spcPct val="0"/>
              </a:spcBef>
            </a:pPr>
            <a:r>
              <a:rPr lang="en-US" sz="3500" b="1">
                <a:solidFill>
                  <a:srgbClr val="000000"/>
                </a:solidFill>
                <a:latin typeface="Cambria Bold"/>
                <a:ea typeface="Cambria Bold"/>
                <a:cs typeface="Cambria Bold"/>
                <a:sym typeface="Cambria Bold"/>
              </a:rPr>
              <a:t>Limitation of Existing Algorithms:</a:t>
            </a:r>
          </a:p>
        </p:txBody>
      </p:sp>
      <p:sp>
        <p:nvSpPr>
          <p:cNvPr id="4" name="TextBox 4"/>
          <p:cNvSpPr txBox="1"/>
          <p:nvPr/>
        </p:nvSpPr>
        <p:spPr>
          <a:xfrm>
            <a:off x="1028700" y="2380460"/>
            <a:ext cx="16163136" cy="1563072"/>
          </a:xfrm>
          <a:prstGeom prst="rect">
            <a:avLst/>
          </a:prstGeom>
        </p:spPr>
        <p:txBody>
          <a:bodyPr lIns="0" tIns="0" rIns="0" bIns="0" rtlCol="0" anchor="t">
            <a:spAutoFit/>
          </a:bodyPr>
          <a:lstStyle/>
          <a:p>
            <a:pPr marL="0" lvl="0" indent="0" algn="just">
              <a:lnSpc>
                <a:spcPts val="3080"/>
              </a:lnSpc>
              <a:spcBef>
                <a:spcPct val="0"/>
              </a:spcBef>
            </a:pPr>
            <a:r>
              <a:rPr lang="en-US" sz="2200">
                <a:solidFill>
                  <a:srgbClr val="000000"/>
                </a:solidFill>
                <a:latin typeface="Cambria"/>
                <a:ea typeface="Cambria"/>
                <a:cs typeface="Cambria"/>
                <a:sym typeface="Cambria"/>
              </a:rPr>
              <a:t>Despite advancements, many </a:t>
            </a:r>
            <a:r>
              <a:rPr lang="en-US" sz="2200" b="1">
                <a:solidFill>
                  <a:srgbClr val="000000"/>
                </a:solidFill>
                <a:latin typeface="Cambria Bold"/>
                <a:ea typeface="Cambria Bold"/>
                <a:cs typeface="Cambria Bold"/>
                <a:sym typeface="Cambria Bold"/>
              </a:rPr>
              <a:t>traditional</a:t>
            </a:r>
            <a:r>
              <a:rPr lang="en-US" sz="2200">
                <a:solidFill>
                  <a:srgbClr val="000000"/>
                </a:solidFill>
                <a:latin typeface="Cambria"/>
                <a:ea typeface="Cambria"/>
                <a:cs typeface="Cambria"/>
                <a:sym typeface="Cambria"/>
              </a:rPr>
              <a:t> &amp; nature inspired </a:t>
            </a:r>
            <a:r>
              <a:rPr lang="en-US" sz="2200" b="1">
                <a:solidFill>
                  <a:srgbClr val="000000"/>
                </a:solidFill>
                <a:latin typeface="Cambria Bold"/>
                <a:ea typeface="Cambria Bold"/>
                <a:cs typeface="Cambria Bold"/>
                <a:sym typeface="Cambria Bold"/>
              </a:rPr>
              <a:t>algorithms</a:t>
            </a:r>
            <a:r>
              <a:rPr lang="en-US" sz="2200">
                <a:solidFill>
                  <a:srgbClr val="000000"/>
                </a:solidFill>
                <a:latin typeface="Cambria"/>
                <a:ea typeface="Cambria"/>
                <a:cs typeface="Cambria"/>
                <a:sym typeface="Cambria"/>
              </a:rPr>
              <a:t> still face significant limitations</a:t>
            </a:r>
            <a:r>
              <a:rPr lang="en-US" sz="2200" u="none" strike="noStrike">
                <a:solidFill>
                  <a:srgbClr val="000000"/>
                </a:solidFill>
                <a:latin typeface="Cambria"/>
                <a:ea typeface="Cambria"/>
                <a:cs typeface="Cambria"/>
                <a:sym typeface="Cambria"/>
              </a:rPr>
              <a:t>. They often experience </a:t>
            </a:r>
            <a:r>
              <a:rPr lang="en-US" sz="2200" b="1" u="none" strike="noStrike">
                <a:solidFill>
                  <a:srgbClr val="000000"/>
                </a:solidFill>
                <a:latin typeface="Cambria Bold"/>
                <a:ea typeface="Cambria Bold"/>
                <a:cs typeface="Cambria Bold"/>
                <a:sym typeface="Cambria Bold"/>
              </a:rPr>
              <a:t>premature convergence</a:t>
            </a:r>
            <a:r>
              <a:rPr lang="en-US" sz="2200" u="none" strike="noStrike">
                <a:solidFill>
                  <a:srgbClr val="000000"/>
                </a:solidFill>
                <a:latin typeface="Cambria"/>
                <a:ea typeface="Cambria"/>
                <a:cs typeface="Cambria"/>
                <a:sym typeface="Cambria"/>
              </a:rPr>
              <a:t>, where the search process </a:t>
            </a:r>
            <a:r>
              <a:rPr lang="en-US" sz="2200" b="1" u="none" strike="noStrike">
                <a:solidFill>
                  <a:srgbClr val="000000"/>
                </a:solidFill>
                <a:latin typeface="Cambria Bold"/>
                <a:ea typeface="Cambria Bold"/>
                <a:cs typeface="Cambria Bold"/>
                <a:sym typeface="Cambria Bold"/>
              </a:rPr>
              <a:t>settles</a:t>
            </a:r>
            <a:r>
              <a:rPr lang="en-US" sz="2200" u="none" strike="noStrike">
                <a:solidFill>
                  <a:srgbClr val="000000"/>
                </a:solidFill>
                <a:latin typeface="Cambria"/>
                <a:ea typeface="Cambria"/>
                <a:cs typeface="Cambria"/>
                <a:sym typeface="Cambria"/>
              </a:rPr>
              <a:t> too quickly on </a:t>
            </a:r>
            <a:r>
              <a:rPr lang="en-US" sz="2200" b="1" u="none" strike="noStrike">
                <a:solidFill>
                  <a:srgbClr val="000000"/>
                </a:solidFill>
                <a:latin typeface="Cambria Bold"/>
                <a:ea typeface="Cambria Bold"/>
                <a:cs typeface="Cambria Bold"/>
                <a:sym typeface="Cambria Bold"/>
              </a:rPr>
              <a:t>suboptimal solution</a:t>
            </a:r>
            <a:r>
              <a:rPr lang="en-US" sz="2200" u="none" strike="noStrike">
                <a:solidFill>
                  <a:srgbClr val="000000"/>
                </a:solidFill>
                <a:latin typeface="Cambria"/>
                <a:ea typeface="Cambria"/>
                <a:cs typeface="Cambria"/>
                <a:sym typeface="Cambria"/>
              </a:rPr>
              <a:t>s. Over time, population diversity may decrease, reducing the algorithm’s ability to explore new regions of the search space. In addition, many methods </a:t>
            </a:r>
            <a:r>
              <a:rPr lang="en-US" sz="2200" b="1" u="none" strike="noStrike">
                <a:solidFill>
                  <a:srgbClr val="000000"/>
                </a:solidFill>
                <a:latin typeface="Cambria Bold"/>
                <a:ea typeface="Cambria Bold"/>
                <a:cs typeface="Cambria Bold"/>
                <a:sym typeface="Cambria Bold"/>
              </a:rPr>
              <a:t>struggle</a:t>
            </a:r>
            <a:r>
              <a:rPr lang="en-US" sz="2200" u="none" strike="noStrike">
                <a:solidFill>
                  <a:srgbClr val="000000"/>
                </a:solidFill>
                <a:latin typeface="Cambria"/>
                <a:ea typeface="Cambria"/>
                <a:cs typeface="Cambria"/>
                <a:sym typeface="Cambria"/>
              </a:rPr>
              <a:t> to adapt effectively in </a:t>
            </a:r>
            <a:r>
              <a:rPr lang="en-US" sz="2200" b="1" u="none" strike="noStrike">
                <a:solidFill>
                  <a:srgbClr val="000000"/>
                </a:solidFill>
                <a:latin typeface="Cambria Bold"/>
                <a:ea typeface="Cambria Bold"/>
                <a:cs typeface="Cambria Bold"/>
                <a:sym typeface="Cambria Bold"/>
              </a:rPr>
              <a:t>dynamic landscapes</a:t>
            </a:r>
            <a:r>
              <a:rPr lang="en-US" sz="2200" u="none" strike="noStrike">
                <a:solidFill>
                  <a:srgbClr val="000000"/>
                </a:solidFill>
                <a:latin typeface="Cambria"/>
                <a:ea typeface="Cambria"/>
                <a:cs typeface="Cambria"/>
                <a:sym typeface="Cambria"/>
              </a:rPr>
              <a:t> and fail to maintain a strong balance between exploration and exploitation.</a:t>
            </a:r>
          </a:p>
        </p:txBody>
      </p:sp>
      <p:sp>
        <p:nvSpPr>
          <p:cNvPr id="5" name="TextBox 5"/>
          <p:cNvSpPr txBox="1"/>
          <p:nvPr/>
        </p:nvSpPr>
        <p:spPr>
          <a:xfrm>
            <a:off x="1096164" y="4469699"/>
            <a:ext cx="7716557" cy="479425"/>
          </a:xfrm>
          <a:prstGeom prst="rect">
            <a:avLst/>
          </a:prstGeom>
        </p:spPr>
        <p:txBody>
          <a:bodyPr lIns="0" tIns="0" rIns="0" bIns="0" rtlCol="0" anchor="t">
            <a:spAutoFit/>
          </a:bodyPr>
          <a:lstStyle/>
          <a:p>
            <a:pPr algn="l">
              <a:lnSpc>
                <a:spcPts val="3500"/>
              </a:lnSpc>
              <a:spcBef>
                <a:spcPct val="0"/>
              </a:spcBef>
            </a:pPr>
            <a:r>
              <a:rPr lang="en-US" sz="3500" b="1">
                <a:solidFill>
                  <a:srgbClr val="000000"/>
                </a:solidFill>
                <a:latin typeface="Cambria Bold"/>
                <a:ea typeface="Cambria Bold"/>
                <a:cs typeface="Cambria Bold"/>
                <a:sym typeface="Cambria Bold"/>
              </a:rPr>
              <a:t>Complexity of Modern Problem:</a:t>
            </a:r>
          </a:p>
        </p:txBody>
      </p:sp>
      <p:sp>
        <p:nvSpPr>
          <p:cNvPr id="6" name="TextBox 6"/>
          <p:cNvSpPr txBox="1"/>
          <p:nvPr/>
        </p:nvSpPr>
        <p:spPr>
          <a:xfrm>
            <a:off x="1096164" y="5034924"/>
            <a:ext cx="16163136" cy="1563072"/>
          </a:xfrm>
          <a:prstGeom prst="rect">
            <a:avLst/>
          </a:prstGeom>
        </p:spPr>
        <p:txBody>
          <a:bodyPr lIns="0" tIns="0" rIns="0" bIns="0" rtlCol="0" anchor="t">
            <a:spAutoFit/>
          </a:bodyPr>
          <a:lstStyle/>
          <a:p>
            <a:pPr marL="0" lvl="0" indent="0" algn="just">
              <a:lnSpc>
                <a:spcPts val="3080"/>
              </a:lnSpc>
              <a:spcBef>
                <a:spcPct val="0"/>
              </a:spcBef>
            </a:pPr>
            <a:r>
              <a:rPr lang="en-US" sz="2200">
                <a:solidFill>
                  <a:srgbClr val="000000"/>
                </a:solidFill>
                <a:latin typeface="Cambria"/>
                <a:ea typeface="Cambria"/>
                <a:cs typeface="Cambria"/>
                <a:sym typeface="Cambria"/>
              </a:rPr>
              <a:t>Modern optimization problems are highly </a:t>
            </a:r>
            <a:r>
              <a:rPr lang="en-US" sz="2200" b="1">
                <a:solidFill>
                  <a:srgbClr val="000000"/>
                </a:solidFill>
                <a:latin typeface="Cambria Bold"/>
                <a:ea typeface="Cambria Bold"/>
                <a:cs typeface="Cambria Bold"/>
                <a:sym typeface="Cambria Bold"/>
              </a:rPr>
              <a:t>complex</a:t>
            </a:r>
            <a:r>
              <a:rPr lang="en-US" sz="2200">
                <a:solidFill>
                  <a:srgbClr val="000000"/>
                </a:solidFill>
                <a:latin typeface="Cambria"/>
                <a:ea typeface="Cambria"/>
                <a:cs typeface="Cambria"/>
                <a:sym typeface="Cambria"/>
              </a:rPr>
              <a:t> due to </a:t>
            </a:r>
            <a:r>
              <a:rPr lang="en-US" sz="2200" b="1">
                <a:solidFill>
                  <a:srgbClr val="000000"/>
                </a:solidFill>
                <a:latin typeface="Cambria Bold"/>
                <a:ea typeface="Cambria Bold"/>
                <a:cs typeface="Cambria Bold"/>
                <a:sym typeface="Cambria Bold"/>
              </a:rPr>
              <a:t>high-dimensional spaces</a:t>
            </a:r>
            <a:r>
              <a:rPr lang="en-US" sz="2200">
                <a:solidFill>
                  <a:srgbClr val="000000"/>
                </a:solidFill>
                <a:latin typeface="Cambria"/>
                <a:ea typeface="Cambria"/>
                <a:cs typeface="Cambria"/>
                <a:sym typeface="Cambria"/>
              </a:rPr>
              <a:t>, </a:t>
            </a:r>
            <a:r>
              <a:rPr lang="en-US" sz="2200" b="1">
                <a:solidFill>
                  <a:srgbClr val="000000"/>
                </a:solidFill>
                <a:latin typeface="Cambria Bold"/>
                <a:ea typeface="Cambria Bold"/>
                <a:cs typeface="Cambria Bold"/>
                <a:sym typeface="Cambria Bold"/>
              </a:rPr>
              <a:t>non-linear</a:t>
            </a:r>
            <a:r>
              <a:rPr lang="en-US" sz="2200">
                <a:solidFill>
                  <a:srgbClr val="000000"/>
                </a:solidFill>
                <a:latin typeface="Cambria"/>
                <a:ea typeface="Cambria"/>
                <a:cs typeface="Cambria"/>
                <a:sym typeface="Cambria"/>
              </a:rPr>
              <a:t> and </a:t>
            </a:r>
            <a:r>
              <a:rPr lang="en-US" sz="2200" b="1">
                <a:solidFill>
                  <a:srgbClr val="000000"/>
                </a:solidFill>
                <a:latin typeface="Cambria Bold"/>
                <a:ea typeface="Cambria Bold"/>
                <a:cs typeface="Cambria Bold"/>
                <a:sym typeface="Cambria Bold"/>
              </a:rPr>
              <a:t>dynamic environment</a:t>
            </a:r>
            <a:r>
              <a:rPr lang="en-US" sz="2200">
                <a:solidFill>
                  <a:srgbClr val="000000"/>
                </a:solidFill>
                <a:latin typeface="Cambria"/>
                <a:ea typeface="Cambria"/>
                <a:cs typeface="Cambria"/>
                <a:sym typeface="Cambria"/>
              </a:rPr>
              <a:t>. </a:t>
            </a:r>
            <a:r>
              <a:rPr lang="en-US" sz="2200" u="none" strike="noStrike">
                <a:solidFill>
                  <a:srgbClr val="000000"/>
                </a:solidFill>
                <a:latin typeface="Cambria"/>
                <a:ea typeface="Cambria"/>
                <a:cs typeface="Cambria"/>
                <a:sym typeface="Cambria"/>
              </a:rPr>
              <a:t>The key challenge is to </a:t>
            </a:r>
            <a:r>
              <a:rPr lang="en-US" sz="2200" b="1" u="none" strike="noStrike">
                <a:solidFill>
                  <a:srgbClr val="000000"/>
                </a:solidFill>
                <a:latin typeface="Cambria Bold"/>
                <a:ea typeface="Cambria Bold"/>
                <a:cs typeface="Cambria Bold"/>
                <a:sym typeface="Cambria Bold"/>
              </a:rPr>
              <a:t>design</a:t>
            </a:r>
            <a:r>
              <a:rPr lang="en-US" sz="2200" u="none" strike="noStrike">
                <a:solidFill>
                  <a:srgbClr val="000000"/>
                </a:solidFill>
                <a:latin typeface="Cambria"/>
                <a:ea typeface="Cambria"/>
                <a:cs typeface="Cambria"/>
                <a:sym typeface="Cambria"/>
              </a:rPr>
              <a:t> and</a:t>
            </a:r>
            <a:r>
              <a:rPr lang="en-US" sz="2200" b="1" u="none" strike="noStrike">
                <a:solidFill>
                  <a:srgbClr val="000000"/>
                </a:solidFill>
                <a:latin typeface="Cambria Bold"/>
                <a:ea typeface="Cambria Bold"/>
                <a:cs typeface="Cambria Bold"/>
                <a:sym typeface="Cambria Bold"/>
              </a:rPr>
              <a:t> implement</a:t>
            </a:r>
            <a:r>
              <a:rPr lang="en-US" sz="2200" u="none" strike="noStrike">
                <a:solidFill>
                  <a:srgbClr val="000000"/>
                </a:solidFill>
                <a:latin typeface="Cambria"/>
                <a:ea typeface="Cambria"/>
                <a:cs typeface="Cambria"/>
                <a:sym typeface="Cambria"/>
              </a:rPr>
              <a:t> a </a:t>
            </a:r>
            <a:r>
              <a:rPr lang="en-US" sz="2200" b="1" u="none" strike="noStrike">
                <a:solidFill>
                  <a:srgbClr val="000000"/>
                </a:solidFill>
                <a:latin typeface="Cambria Bold"/>
                <a:ea typeface="Cambria Bold"/>
                <a:cs typeface="Cambria Bold"/>
                <a:sym typeface="Cambria Bold"/>
              </a:rPr>
              <a:t>novel metaheuristic algorithm</a:t>
            </a:r>
            <a:r>
              <a:rPr lang="en-US" sz="2200" u="none" strike="noStrike">
                <a:solidFill>
                  <a:srgbClr val="000000"/>
                </a:solidFill>
                <a:latin typeface="Cambria"/>
                <a:ea typeface="Cambria"/>
                <a:cs typeface="Cambria"/>
                <a:sym typeface="Cambria"/>
              </a:rPr>
              <a:t> that can overcome these issues and delivers strong performance. The algorithm must demonstrate robustness, stable convergence behavior, and the ability to escape local optima. Its overall performance must also be </a:t>
            </a:r>
            <a:r>
              <a:rPr lang="en-US" sz="2200" b="1" u="none" strike="noStrike">
                <a:solidFill>
                  <a:srgbClr val="000000"/>
                </a:solidFill>
                <a:latin typeface="Cambria Bold"/>
                <a:ea typeface="Cambria Bold"/>
                <a:cs typeface="Cambria Bold"/>
                <a:sym typeface="Cambria Bold"/>
              </a:rPr>
              <a:t>evaluated against well-established algorithms</a:t>
            </a:r>
            <a:r>
              <a:rPr lang="en-US" sz="2200" u="none" strike="noStrike">
                <a:solidFill>
                  <a:srgbClr val="000000"/>
                </a:solidFill>
                <a:latin typeface="Cambria"/>
                <a:ea typeface="Cambria"/>
                <a:cs typeface="Cambria"/>
                <a:sym typeface="Cambria"/>
              </a:rPr>
              <a:t> to assess its effectiveness.</a:t>
            </a:r>
          </a:p>
        </p:txBody>
      </p:sp>
      <p:sp>
        <p:nvSpPr>
          <p:cNvPr id="7" name="TextBox 7"/>
          <p:cNvSpPr txBox="1"/>
          <p:nvPr/>
        </p:nvSpPr>
        <p:spPr>
          <a:xfrm>
            <a:off x="1096164" y="7121871"/>
            <a:ext cx="6274142" cy="479425"/>
          </a:xfrm>
          <a:prstGeom prst="rect">
            <a:avLst/>
          </a:prstGeom>
        </p:spPr>
        <p:txBody>
          <a:bodyPr lIns="0" tIns="0" rIns="0" bIns="0" rtlCol="0" anchor="t">
            <a:spAutoFit/>
          </a:bodyPr>
          <a:lstStyle/>
          <a:p>
            <a:pPr algn="l">
              <a:lnSpc>
                <a:spcPts val="3500"/>
              </a:lnSpc>
              <a:spcBef>
                <a:spcPct val="0"/>
              </a:spcBef>
            </a:pPr>
            <a:r>
              <a:rPr lang="en-US" sz="3500" b="1">
                <a:solidFill>
                  <a:srgbClr val="000000"/>
                </a:solidFill>
                <a:latin typeface="Cambria Bold"/>
                <a:ea typeface="Cambria Bold"/>
                <a:cs typeface="Cambria Bold"/>
                <a:sym typeface="Cambria Bold"/>
              </a:rPr>
              <a:t>Need for better Approach:</a:t>
            </a:r>
          </a:p>
        </p:txBody>
      </p:sp>
      <p:sp>
        <p:nvSpPr>
          <p:cNvPr id="8" name="TextBox 8"/>
          <p:cNvSpPr txBox="1"/>
          <p:nvPr/>
        </p:nvSpPr>
        <p:spPr>
          <a:xfrm>
            <a:off x="1096164" y="7687021"/>
            <a:ext cx="16163136" cy="1563370"/>
          </a:xfrm>
          <a:prstGeom prst="rect">
            <a:avLst/>
          </a:prstGeom>
        </p:spPr>
        <p:txBody>
          <a:bodyPr lIns="0" tIns="0" rIns="0" bIns="0" rtlCol="0" anchor="t">
            <a:spAutoFit/>
          </a:bodyPr>
          <a:lstStyle/>
          <a:p>
            <a:pPr marL="0" lvl="0" indent="0" algn="just">
              <a:lnSpc>
                <a:spcPts val="3080"/>
              </a:lnSpc>
              <a:spcBef>
                <a:spcPct val="0"/>
              </a:spcBef>
            </a:pPr>
            <a:r>
              <a:rPr lang="en-US" sz="2200">
                <a:solidFill>
                  <a:srgbClr val="000000"/>
                </a:solidFill>
                <a:latin typeface="Cambria"/>
                <a:ea typeface="Cambria"/>
                <a:cs typeface="Cambria"/>
                <a:sym typeface="Cambria"/>
              </a:rPr>
              <a:t>Limitations of existing methods demand </a:t>
            </a:r>
            <a:r>
              <a:rPr lang="en-US" sz="2200" b="1">
                <a:solidFill>
                  <a:srgbClr val="000000"/>
                </a:solidFill>
                <a:latin typeface="Cambria Bold"/>
                <a:ea typeface="Cambria Bold"/>
                <a:cs typeface="Cambria Bold"/>
                <a:sym typeface="Cambria Bold"/>
              </a:rPr>
              <a:t>adaptive optimization strategie. </a:t>
            </a:r>
            <a:r>
              <a:rPr lang="en-US" sz="2200">
                <a:solidFill>
                  <a:srgbClr val="000000"/>
                </a:solidFill>
                <a:latin typeface="Cambria"/>
                <a:ea typeface="Cambria"/>
                <a:cs typeface="Cambria"/>
                <a:sym typeface="Cambria"/>
              </a:rPr>
              <a:t>Our approach is to</a:t>
            </a:r>
            <a:r>
              <a:rPr lang="en-US" sz="2200" u="none" strike="noStrike">
                <a:solidFill>
                  <a:srgbClr val="000000"/>
                </a:solidFill>
                <a:latin typeface="Cambria"/>
                <a:ea typeface="Cambria"/>
                <a:cs typeface="Cambria"/>
                <a:sym typeface="Cambria"/>
              </a:rPr>
              <a:t> evalute the </a:t>
            </a:r>
            <a:r>
              <a:rPr lang="en-US" sz="2200" b="1" u="none" strike="noStrike">
                <a:solidFill>
                  <a:srgbClr val="000000"/>
                </a:solidFill>
                <a:latin typeface="Cambria Bold"/>
                <a:ea typeface="Cambria Bold"/>
                <a:cs typeface="Cambria Bold"/>
                <a:sym typeface="Cambria Bold"/>
              </a:rPr>
              <a:t>proposed</a:t>
            </a:r>
            <a:r>
              <a:rPr lang="en-US" sz="2200" u="none" strike="noStrike">
                <a:solidFill>
                  <a:srgbClr val="000000"/>
                </a:solidFill>
                <a:latin typeface="Cambria"/>
                <a:ea typeface="Cambria"/>
                <a:cs typeface="Cambria"/>
                <a:sym typeface="Cambria"/>
              </a:rPr>
              <a:t> </a:t>
            </a:r>
            <a:r>
              <a:rPr lang="en-US" sz="2200" b="1" u="none" strike="noStrike">
                <a:solidFill>
                  <a:srgbClr val="000000"/>
                </a:solidFill>
                <a:latin typeface="Cambria Bold"/>
                <a:ea typeface="Cambria Bold"/>
                <a:cs typeface="Cambria Bold"/>
                <a:sym typeface="Cambria Bold"/>
              </a:rPr>
              <a:t>algorithm</a:t>
            </a:r>
            <a:r>
              <a:rPr lang="en-US" sz="2200" u="none" strike="noStrike">
                <a:solidFill>
                  <a:srgbClr val="000000"/>
                </a:solidFill>
                <a:latin typeface="Cambria"/>
                <a:ea typeface="Cambria"/>
                <a:cs typeface="Cambria"/>
                <a:sym typeface="Cambria"/>
              </a:rPr>
              <a:t> to the </a:t>
            </a:r>
            <a:r>
              <a:rPr lang="en-US" sz="2200" b="1" u="none" strike="noStrike">
                <a:solidFill>
                  <a:srgbClr val="000000"/>
                </a:solidFill>
                <a:latin typeface="Cambria Bold"/>
                <a:ea typeface="Cambria Bold"/>
                <a:cs typeface="Cambria Bold"/>
                <a:sym typeface="Cambria Bold"/>
              </a:rPr>
              <a:t>CEC2017 benchmark functions</a:t>
            </a:r>
            <a:r>
              <a:rPr lang="en-US" sz="2200" u="none" strike="noStrike">
                <a:solidFill>
                  <a:srgbClr val="000000"/>
                </a:solidFill>
                <a:latin typeface="Cambria"/>
                <a:ea typeface="Cambria"/>
                <a:cs typeface="Cambria"/>
                <a:sym typeface="Cambria"/>
              </a:rPr>
              <a:t> and thoroughly </a:t>
            </a:r>
            <a:r>
              <a:rPr lang="en-US" sz="2200" b="1" u="none" strike="noStrike">
                <a:solidFill>
                  <a:srgbClr val="000000"/>
                </a:solidFill>
                <a:latin typeface="Cambria Bold"/>
                <a:ea typeface="Cambria Bold"/>
                <a:cs typeface="Cambria Bold"/>
                <a:sym typeface="Cambria Bold"/>
              </a:rPr>
              <a:t>analyze its performance</a:t>
            </a:r>
            <a:r>
              <a:rPr lang="en-US" sz="2200" u="none" strike="noStrike">
                <a:solidFill>
                  <a:srgbClr val="000000"/>
                </a:solidFill>
                <a:latin typeface="Cambria"/>
                <a:ea typeface="Cambria"/>
                <a:cs typeface="Cambria"/>
                <a:sym typeface="Cambria"/>
              </a:rPr>
              <a:t>. The evaluation includes </a:t>
            </a:r>
            <a:r>
              <a:rPr lang="en-US" sz="2200" b="1" u="none" strike="noStrike">
                <a:solidFill>
                  <a:srgbClr val="000000"/>
                </a:solidFill>
                <a:latin typeface="Cambria Bold"/>
                <a:ea typeface="Cambria Bold"/>
                <a:cs typeface="Cambria Bold"/>
                <a:sym typeface="Cambria Bold"/>
              </a:rPr>
              <a:t>testing</a:t>
            </a:r>
            <a:r>
              <a:rPr lang="en-US" sz="2200" u="none" strike="noStrike">
                <a:solidFill>
                  <a:srgbClr val="000000"/>
                </a:solidFill>
                <a:latin typeface="Cambria"/>
                <a:ea typeface="Cambria"/>
                <a:cs typeface="Cambria"/>
                <a:sym typeface="Cambria"/>
              </a:rPr>
              <a:t> across </a:t>
            </a:r>
            <a:r>
              <a:rPr lang="en-US" sz="2200" b="1" u="none" strike="noStrike">
                <a:solidFill>
                  <a:srgbClr val="000000"/>
                </a:solidFill>
                <a:latin typeface="Cambria Bold"/>
                <a:ea typeface="Cambria Bold"/>
                <a:cs typeface="Cambria Bold"/>
                <a:sym typeface="Cambria Bold"/>
              </a:rPr>
              <a:t>unimodal</a:t>
            </a:r>
            <a:r>
              <a:rPr lang="en-US" sz="2200" u="none" strike="noStrike">
                <a:solidFill>
                  <a:srgbClr val="000000"/>
                </a:solidFill>
                <a:latin typeface="Cambria"/>
                <a:ea typeface="Cambria"/>
                <a:cs typeface="Cambria"/>
                <a:sym typeface="Cambria"/>
              </a:rPr>
              <a:t>, </a:t>
            </a:r>
            <a:r>
              <a:rPr lang="en-US" sz="2200" b="1" u="none" strike="noStrike">
                <a:solidFill>
                  <a:srgbClr val="000000"/>
                </a:solidFill>
                <a:latin typeface="Cambria Bold"/>
                <a:ea typeface="Cambria Bold"/>
                <a:cs typeface="Cambria Bold"/>
                <a:sym typeface="Cambria Bold"/>
              </a:rPr>
              <a:t>multimodal</a:t>
            </a:r>
            <a:r>
              <a:rPr lang="en-US" sz="2200" u="none" strike="noStrike">
                <a:solidFill>
                  <a:srgbClr val="000000"/>
                </a:solidFill>
                <a:latin typeface="Cambria"/>
                <a:ea typeface="Cambria"/>
                <a:cs typeface="Cambria"/>
                <a:sym typeface="Cambria"/>
              </a:rPr>
              <a:t>, </a:t>
            </a:r>
            <a:r>
              <a:rPr lang="en-US" sz="2200" b="1" u="none" strike="noStrike">
                <a:solidFill>
                  <a:srgbClr val="000000"/>
                </a:solidFill>
                <a:latin typeface="Cambria Bold"/>
                <a:ea typeface="Cambria Bold"/>
                <a:cs typeface="Cambria Bold"/>
                <a:sym typeface="Cambria Bold"/>
              </a:rPr>
              <a:t>hybrid functions. </a:t>
            </a:r>
            <a:r>
              <a:rPr lang="en-US" sz="2200" u="none" strike="noStrike">
                <a:solidFill>
                  <a:srgbClr val="000000"/>
                </a:solidFill>
                <a:latin typeface="Cambria"/>
                <a:ea typeface="Cambria"/>
                <a:cs typeface="Cambria"/>
                <a:sym typeface="Cambria"/>
              </a:rPr>
              <a:t>The analysis focuses on </a:t>
            </a:r>
            <a:r>
              <a:rPr lang="en-US" sz="2200" b="1" u="none" strike="noStrike">
                <a:solidFill>
                  <a:srgbClr val="000000"/>
                </a:solidFill>
                <a:latin typeface="Cambria Bold"/>
                <a:ea typeface="Cambria Bold"/>
                <a:cs typeface="Cambria Bold"/>
                <a:sym typeface="Cambria Bold"/>
              </a:rPr>
              <a:t>convergence speed</a:t>
            </a:r>
            <a:r>
              <a:rPr lang="en-US" sz="2200" u="none" strike="noStrike">
                <a:solidFill>
                  <a:srgbClr val="000000"/>
                </a:solidFill>
                <a:latin typeface="Cambria"/>
                <a:ea typeface="Cambria"/>
                <a:cs typeface="Cambria"/>
                <a:sym typeface="Cambria"/>
              </a:rPr>
              <a:t>, </a:t>
            </a:r>
            <a:r>
              <a:rPr lang="en-US" sz="2200" b="1" u="none" strike="noStrike">
                <a:solidFill>
                  <a:srgbClr val="000000"/>
                </a:solidFill>
                <a:latin typeface="Cambria Bold"/>
                <a:ea typeface="Cambria Bold"/>
                <a:cs typeface="Cambria Bold"/>
                <a:sym typeface="Cambria Bold"/>
              </a:rPr>
              <a:t>stability</a:t>
            </a:r>
            <a:r>
              <a:rPr lang="en-US" sz="2200" u="none" strike="noStrike">
                <a:solidFill>
                  <a:srgbClr val="000000"/>
                </a:solidFill>
                <a:latin typeface="Cambria"/>
                <a:ea typeface="Cambria"/>
                <a:cs typeface="Cambria"/>
                <a:sym typeface="Cambria"/>
              </a:rPr>
              <a:t>, and </a:t>
            </a:r>
            <a:r>
              <a:rPr lang="en-US" sz="2200" b="1" u="none" strike="noStrike">
                <a:solidFill>
                  <a:srgbClr val="000000"/>
                </a:solidFill>
                <a:latin typeface="Cambria Bold"/>
                <a:ea typeface="Cambria Bold"/>
                <a:cs typeface="Cambria Bold"/>
                <a:sym typeface="Cambria Bold"/>
              </a:rPr>
              <a:t>adaptability</a:t>
            </a:r>
            <a:r>
              <a:rPr lang="en-US" sz="2200" u="none" strike="noStrike">
                <a:solidFill>
                  <a:srgbClr val="000000"/>
                </a:solidFill>
                <a:latin typeface="Cambria"/>
                <a:ea typeface="Cambria"/>
                <a:cs typeface="Cambria"/>
                <a:sym typeface="Cambria"/>
              </a:rPr>
              <a:t> across different levels of problem complexity.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016347" y="447675"/>
            <a:ext cx="7493004" cy="1038225"/>
          </a:xfrm>
          <a:prstGeom prst="rect">
            <a:avLst/>
          </a:prstGeom>
        </p:spPr>
        <p:txBody>
          <a:bodyPr lIns="0" tIns="0" rIns="0" bIns="0" rtlCol="0" anchor="t">
            <a:spAutoFit/>
          </a:bodyPr>
          <a:lstStyle/>
          <a:p>
            <a:pPr algn="just">
              <a:lnSpc>
                <a:spcPts val="8400"/>
              </a:lnSpc>
            </a:pPr>
            <a:r>
              <a:rPr lang="en-US" sz="6000" b="1">
                <a:solidFill>
                  <a:srgbClr val="000000"/>
                </a:solidFill>
                <a:latin typeface="Cambria Bold"/>
                <a:ea typeface="Cambria Bold"/>
                <a:cs typeface="Cambria Bold"/>
                <a:sym typeface="Cambria Bold"/>
              </a:rPr>
              <a:t>Literature Review</a:t>
            </a:r>
          </a:p>
        </p:txBody>
      </p:sp>
      <p:sp>
        <p:nvSpPr>
          <p:cNvPr id="4" name="TextBox 4"/>
          <p:cNvSpPr txBox="1"/>
          <p:nvPr/>
        </p:nvSpPr>
        <p:spPr>
          <a:xfrm>
            <a:off x="899862" y="7626152"/>
            <a:ext cx="4971483" cy="615950"/>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Cambria Bold"/>
                <a:ea typeface="Cambria Bold"/>
                <a:cs typeface="Cambria Bold"/>
                <a:sym typeface="Cambria Bold"/>
              </a:rPr>
              <a:t>Limitation Observed</a:t>
            </a:r>
          </a:p>
        </p:txBody>
      </p:sp>
      <p:sp>
        <p:nvSpPr>
          <p:cNvPr id="5" name="TextBox 5"/>
          <p:cNvSpPr txBox="1"/>
          <p:nvPr/>
        </p:nvSpPr>
        <p:spPr>
          <a:xfrm>
            <a:off x="899862" y="8354695"/>
            <a:ext cx="16692912" cy="1019175"/>
          </a:xfrm>
          <a:prstGeom prst="rect">
            <a:avLst/>
          </a:prstGeom>
        </p:spPr>
        <p:txBody>
          <a:bodyPr lIns="0" tIns="0" rIns="0" bIns="0" rtlCol="0" anchor="t">
            <a:spAutoFit/>
          </a:bodyPr>
          <a:lstStyle/>
          <a:p>
            <a:pPr algn="just">
              <a:lnSpc>
                <a:spcPts val="2640"/>
              </a:lnSpc>
            </a:pPr>
            <a:r>
              <a:rPr lang="en-US" sz="2200">
                <a:solidFill>
                  <a:srgbClr val="000000"/>
                </a:solidFill>
                <a:latin typeface="Cambria"/>
                <a:ea typeface="Cambria"/>
                <a:cs typeface="Cambria"/>
                <a:sym typeface="Cambria"/>
              </a:rPr>
              <a:t>Many existing metaheuristic algorithms have some </a:t>
            </a:r>
            <a:r>
              <a:rPr lang="en-US" sz="2200" b="1">
                <a:solidFill>
                  <a:srgbClr val="000000"/>
                </a:solidFill>
                <a:latin typeface="Cambria Bold"/>
                <a:ea typeface="Cambria Bold"/>
                <a:cs typeface="Cambria Bold"/>
                <a:sym typeface="Cambria Bold"/>
              </a:rPr>
              <a:t>common problems</a:t>
            </a:r>
            <a:r>
              <a:rPr lang="en-US" sz="2200">
                <a:solidFill>
                  <a:srgbClr val="000000"/>
                </a:solidFill>
                <a:latin typeface="Cambria"/>
                <a:ea typeface="Cambria"/>
                <a:cs typeface="Cambria"/>
                <a:sym typeface="Cambria"/>
              </a:rPr>
              <a:t>. They may not move steadily toward the best solution and can </a:t>
            </a:r>
            <a:r>
              <a:rPr lang="en-US" sz="2200" b="1">
                <a:solidFill>
                  <a:srgbClr val="000000"/>
                </a:solidFill>
                <a:latin typeface="Cambria Bold"/>
                <a:ea typeface="Cambria Bold"/>
                <a:cs typeface="Cambria Bold"/>
                <a:sym typeface="Cambria Bold"/>
              </a:rPr>
              <a:t>lose diversity</a:t>
            </a:r>
            <a:r>
              <a:rPr lang="en-US" sz="2200">
                <a:solidFill>
                  <a:srgbClr val="000000"/>
                </a:solidFill>
                <a:latin typeface="Cambria"/>
                <a:ea typeface="Cambria"/>
                <a:cs typeface="Cambria"/>
                <a:sym typeface="Cambria"/>
              </a:rPr>
              <a:t> in the population, which </a:t>
            </a:r>
            <a:r>
              <a:rPr lang="en-US" sz="2200" b="1">
                <a:solidFill>
                  <a:srgbClr val="000000"/>
                </a:solidFill>
                <a:latin typeface="Cambria Bold"/>
                <a:ea typeface="Cambria Bold"/>
                <a:cs typeface="Cambria Bold"/>
                <a:sym typeface="Cambria Bold"/>
              </a:rPr>
              <a:t>reduces exploration</a:t>
            </a:r>
            <a:r>
              <a:rPr lang="en-US" sz="2200">
                <a:solidFill>
                  <a:srgbClr val="000000"/>
                </a:solidFill>
                <a:latin typeface="Cambria"/>
                <a:ea typeface="Cambria"/>
                <a:cs typeface="Cambria"/>
                <a:sym typeface="Cambria"/>
              </a:rPr>
              <a:t>. They often get </a:t>
            </a:r>
            <a:r>
              <a:rPr lang="en-US" sz="2200" b="1">
                <a:solidFill>
                  <a:srgbClr val="000000"/>
                </a:solidFill>
                <a:latin typeface="Cambria Bold"/>
                <a:ea typeface="Cambria Bold"/>
                <a:cs typeface="Cambria Bold"/>
                <a:sym typeface="Cambria Bold"/>
              </a:rPr>
              <a:t>stuck</a:t>
            </a:r>
            <a:r>
              <a:rPr lang="en-US" sz="2200">
                <a:solidFill>
                  <a:srgbClr val="000000"/>
                </a:solidFill>
                <a:latin typeface="Cambria"/>
                <a:ea typeface="Cambria"/>
                <a:cs typeface="Cambria"/>
                <a:sym typeface="Cambria"/>
              </a:rPr>
              <a:t> in </a:t>
            </a:r>
            <a:r>
              <a:rPr lang="en-US" sz="2200" b="1">
                <a:solidFill>
                  <a:srgbClr val="000000"/>
                </a:solidFill>
                <a:latin typeface="Cambria Bold"/>
                <a:ea typeface="Cambria Bold"/>
                <a:cs typeface="Cambria Bold"/>
                <a:sym typeface="Cambria Bold"/>
              </a:rPr>
              <a:t>local optima</a:t>
            </a:r>
            <a:r>
              <a:rPr lang="en-US" sz="2200">
                <a:solidFill>
                  <a:srgbClr val="000000"/>
                </a:solidFill>
                <a:latin typeface="Cambria"/>
                <a:ea typeface="Cambria"/>
                <a:cs typeface="Cambria"/>
                <a:sym typeface="Cambria"/>
              </a:rPr>
              <a:t> and struggle to perform well in </a:t>
            </a:r>
            <a:r>
              <a:rPr lang="en-US" sz="2200" b="1">
                <a:solidFill>
                  <a:srgbClr val="000000"/>
                </a:solidFill>
                <a:latin typeface="Cambria Bold"/>
                <a:ea typeface="Cambria Bold"/>
                <a:cs typeface="Cambria Bold"/>
                <a:sym typeface="Cambria Bold"/>
              </a:rPr>
              <a:t>high-dimensional</a:t>
            </a:r>
            <a:r>
              <a:rPr lang="en-US" sz="2200">
                <a:solidFill>
                  <a:srgbClr val="000000"/>
                </a:solidFill>
                <a:latin typeface="Cambria"/>
                <a:ea typeface="Cambria"/>
                <a:cs typeface="Cambria"/>
                <a:sym typeface="Cambria"/>
              </a:rPr>
              <a:t> problems where the search space becomes more complex.</a:t>
            </a:r>
          </a:p>
        </p:txBody>
      </p:sp>
      <p:sp>
        <p:nvSpPr>
          <p:cNvPr id="6" name="TextBox 6"/>
          <p:cNvSpPr txBox="1"/>
          <p:nvPr/>
        </p:nvSpPr>
        <p:spPr>
          <a:xfrm>
            <a:off x="899862" y="1714664"/>
            <a:ext cx="16692912" cy="1172622"/>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Over the years, many optimization algorithms have been developed by studying animal behavior in nature. These </a:t>
            </a:r>
            <a:r>
              <a:rPr lang="en-US" sz="2200" b="1" u="none" strike="noStrike">
                <a:solidFill>
                  <a:srgbClr val="000000"/>
                </a:solidFill>
                <a:latin typeface="Cambria Bold"/>
                <a:ea typeface="Cambria Bold"/>
                <a:cs typeface="Cambria Bold"/>
                <a:sym typeface="Cambria Bold"/>
              </a:rPr>
              <a:t>animal-inspired</a:t>
            </a:r>
            <a:r>
              <a:rPr lang="en-US" sz="2200" u="none" strike="noStrike">
                <a:solidFill>
                  <a:srgbClr val="000000"/>
                </a:solidFill>
                <a:latin typeface="Cambria"/>
                <a:ea typeface="Cambria"/>
                <a:cs typeface="Cambria"/>
                <a:sym typeface="Cambria"/>
              </a:rPr>
              <a:t> methods use ideas like </a:t>
            </a:r>
            <a:r>
              <a:rPr lang="en-US" sz="2200" b="1" u="none" strike="noStrike">
                <a:solidFill>
                  <a:srgbClr val="000000"/>
                </a:solidFill>
                <a:latin typeface="Cambria Bold"/>
                <a:ea typeface="Cambria Bold"/>
                <a:cs typeface="Cambria Bold"/>
                <a:sym typeface="Cambria Bold"/>
              </a:rPr>
              <a:t>hunting</a:t>
            </a:r>
            <a:r>
              <a:rPr lang="en-US" sz="2200" u="none" strike="noStrike">
                <a:solidFill>
                  <a:srgbClr val="000000"/>
                </a:solidFill>
                <a:latin typeface="Cambria"/>
                <a:ea typeface="Cambria"/>
                <a:cs typeface="Cambria"/>
                <a:sym typeface="Cambria"/>
              </a:rPr>
              <a:t>, </a:t>
            </a:r>
            <a:r>
              <a:rPr lang="en-US" sz="2200" b="1" u="none" strike="noStrike">
                <a:solidFill>
                  <a:srgbClr val="000000"/>
                </a:solidFill>
                <a:latin typeface="Cambria Bold"/>
                <a:ea typeface="Cambria Bold"/>
                <a:cs typeface="Cambria Bold"/>
                <a:sym typeface="Cambria Bold"/>
              </a:rPr>
              <a:t>flocking</a:t>
            </a:r>
            <a:r>
              <a:rPr lang="en-US" sz="2200" u="none" strike="noStrike">
                <a:solidFill>
                  <a:srgbClr val="000000"/>
                </a:solidFill>
                <a:latin typeface="Cambria"/>
                <a:ea typeface="Cambria"/>
                <a:cs typeface="Cambria"/>
                <a:sym typeface="Cambria"/>
              </a:rPr>
              <a:t>, and </a:t>
            </a:r>
            <a:r>
              <a:rPr lang="en-US" sz="2200" b="1" u="none" strike="noStrike">
                <a:solidFill>
                  <a:srgbClr val="000000"/>
                </a:solidFill>
                <a:latin typeface="Cambria Bold"/>
                <a:ea typeface="Cambria Bold"/>
                <a:cs typeface="Cambria Bold"/>
                <a:sym typeface="Cambria Bold"/>
              </a:rPr>
              <a:t>adaptation</a:t>
            </a:r>
            <a:r>
              <a:rPr lang="en-US" sz="2200" u="none" strike="noStrike">
                <a:solidFill>
                  <a:srgbClr val="000000"/>
                </a:solidFill>
                <a:latin typeface="Cambria"/>
                <a:ea typeface="Cambria"/>
                <a:cs typeface="Cambria"/>
                <a:sym typeface="Cambria"/>
              </a:rPr>
              <a:t> to solve complex problems. This section briefly reviews the main approaches and their common limitations.</a:t>
            </a:r>
          </a:p>
        </p:txBody>
      </p:sp>
      <p:graphicFrame>
        <p:nvGraphicFramePr>
          <p:cNvPr id="7" name="Table 6">
            <a:extLst>
              <a:ext uri="{FF2B5EF4-FFF2-40B4-BE49-F238E27FC236}">
                <a16:creationId xmlns:a16="http://schemas.microsoft.com/office/drawing/2014/main" id="{C0F61852-27B6-701B-37C1-08269E063074}"/>
              </a:ext>
            </a:extLst>
          </p:cNvPr>
          <p:cNvGraphicFramePr>
            <a:graphicFrameLocks noGrp="1"/>
          </p:cNvGraphicFramePr>
          <p:nvPr>
            <p:extLst>
              <p:ext uri="{D42A27DB-BD31-4B8C-83A1-F6EECF244321}">
                <p14:modId xmlns:p14="http://schemas.microsoft.com/office/powerpoint/2010/main" val="2875856893"/>
              </p:ext>
            </p:extLst>
          </p:nvPr>
        </p:nvGraphicFramePr>
        <p:xfrm>
          <a:off x="894946" y="2887286"/>
          <a:ext cx="16692912" cy="4525963"/>
        </p:xfrm>
        <a:graphic>
          <a:graphicData uri="http://schemas.openxmlformats.org/drawingml/2006/table">
            <a:tbl>
              <a:tblPr/>
              <a:tblGrid>
                <a:gridCol w="4173228">
                  <a:extLst>
                    <a:ext uri="{9D8B030D-6E8A-4147-A177-3AD203B41FA5}">
                      <a16:colId xmlns:a16="http://schemas.microsoft.com/office/drawing/2014/main" val="2293587997"/>
                    </a:ext>
                  </a:extLst>
                </a:gridCol>
                <a:gridCol w="4173228">
                  <a:extLst>
                    <a:ext uri="{9D8B030D-6E8A-4147-A177-3AD203B41FA5}">
                      <a16:colId xmlns:a16="http://schemas.microsoft.com/office/drawing/2014/main" val="1286519104"/>
                    </a:ext>
                  </a:extLst>
                </a:gridCol>
                <a:gridCol w="4173228">
                  <a:extLst>
                    <a:ext uri="{9D8B030D-6E8A-4147-A177-3AD203B41FA5}">
                      <a16:colId xmlns:a16="http://schemas.microsoft.com/office/drawing/2014/main" val="1048887253"/>
                    </a:ext>
                  </a:extLst>
                </a:gridCol>
                <a:gridCol w="4173228">
                  <a:extLst>
                    <a:ext uri="{9D8B030D-6E8A-4147-A177-3AD203B41FA5}">
                      <a16:colId xmlns:a16="http://schemas.microsoft.com/office/drawing/2014/main" val="3641330035"/>
                    </a:ext>
                  </a:extLst>
                </a:gridCol>
              </a:tblGrid>
              <a:tr h="707134">
                <a:tc>
                  <a:txBody>
                    <a:bodyPr/>
                    <a:lstStyle/>
                    <a:p>
                      <a:pPr algn="ctr"/>
                      <a:r>
                        <a:rPr lang="en-IN" sz="1700" b="1">
                          <a:solidFill>
                            <a:srgbClr val="1F1F1F"/>
                          </a:solidFill>
                          <a:effectLst/>
                        </a:rPr>
                        <a:t>Category</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EFEFEF"/>
                    </a:solidFill>
                  </a:tcPr>
                </a:tc>
                <a:tc>
                  <a:txBody>
                    <a:bodyPr/>
                    <a:lstStyle/>
                    <a:p>
                      <a:pPr algn="ctr"/>
                      <a:r>
                        <a:rPr lang="en-IN" sz="1700" b="1">
                          <a:solidFill>
                            <a:srgbClr val="1F1F1F"/>
                          </a:solidFill>
                          <a:effectLst/>
                        </a:rPr>
                        <a:t>Algorithm / Concept</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EFEFEF"/>
                    </a:solidFill>
                  </a:tcPr>
                </a:tc>
                <a:tc>
                  <a:txBody>
                    <a:bodyPr/>
                    <a:lstStyle/>
                    <a:p>
                      <a:pPr algn="ctr"/>
                      <a:r>
                        <a:rPr lang="en-IN" sz="1700" b="1">
                          <a:solidFill>
                            <a:srgbClr val="1F1F1F"/>
                          </a:solidFill>
                          <a:effectLst/>
                        </a:rPr>
                        <a:t>Author &amp; Year</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EFEFEF"/>
                    </a:solidFill>
                  </a:tcPr>
                </a:tc>
                <a:tc>
                  <a:txBody>
                    <a:bodyPr/>
                    <a:lstStyle/>
                    <a:p>
                      <a:pPr algn="ctr"/>
                      <a:r>
                        <a:rPr lang="en-IN" sz="1700" b="1">
                          <a:solidFill>
                            <a:srgbClr val="1F1F1F"/>
                          </a:solidFill>
                          <a:effectLst/>
                        </a:rPr>
                        <a:t>Key Inspiration / Strategy</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EFEFEF"/>
                    </a:solidFill>
                  </a:tcPr>
                </a:tc>
                <a:extLst>
                  <a:ext uri="{0D108BD9-81ED-4DB2-BD59-A6C34878D82A}">
                    <a16:rowId xmlns:a16="http://schemas.microsoft.com/office/drawing/2014/main" val="3103268804"/>
                  </a:ext>
                </a:extLst>
              </a:tr>
              <a:tr h="1357806">
                <a:tc>
                  <a:txBody>
                    <a:bodyPr/>
                    <a:lstStyle/>
                    <a:p>
                      <a:pPr algn="ctr"/>
                      <a:r>
                        <a:rPr lang="en-IN" sz="1700" b="1">
                          <a:solidFill>
                            <a:srgbClr val="1F1F1F"/>
                          </a:solidFill>
                          <a:effectLst/>
                        </a:rPr>
                        <a:t>Swarm-Based</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IN" sz="1700" b="1">
                          <a:solidFill>
                            <a:srgbClr val="1F1F1F"/>
                          </a:solidFill>
                          <a:effectLst/>
                        </a:rPr>
                        <a:t>PSO, ACO, GWO, WOA</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IN" sz="1700" b="1">
                          <a:solidFill>
                            <a:srgbClr val="1F1F1F"/>
                          </a:solidFill>
                          <a:effectLst/>
                        </a:rPr>
                        <a:t>James Kennedy 1995, Marco Dorigo 1990, Seyedali Mirjalili 2014, Andrew Lewis 2016</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US" sz="1700" b="1">
                          <a:solidFill>
                            <a:srgbClr val="1F1F1F"/>
                          </a:solidFill>
                          <a:effectLst/>
                        </a:rPr>
                        <a:t>Collective intelligence and social behaviors like flocking or hunting in groups.</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70696842"/>
                  </a:ext>
                </a:extLst>
              </a:tr>
              <a:tr h="1357806">
                <a:tc>
                  <a:txBody>
                    <a:bodyPr/>
                    <a:lstStyle/>
                    <a:p>
                      <a:pPr algn="ctr"/>
                      <a:r>
                        <a:rPr lang="en-IN" sz="1700" b="1">
                          <a:solidFill>
                            <a:srgbClr val="1F1F1F"/>
                          </a:solidFill>
                          <a:effectLst/>
                        </a:rPr>
                        <a:t>Predator-Prey</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IN" sz="1700" b="1">
                          <a:solidFill>
                            <a:srgbClr val="1F1F1F"/>
                          </a:solidFill>
                          <a:effectLst/>
                        </a:rPr>
                        <a:t>Lion, Cheetah, &amp; Sharks Optimization</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IN" sz="1700" b="1">
                          <a:solidFill>
                            <a:srgbClr val="1F1F1F"/>
                          </a:solidFill>
                          <a:effectLst/>
                        </a:rPr>
                        <a:t>Seyedali Mirjalili 2015, Seyedali Mirjalili 2022, Mojtaba Yazdani 2012</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US" sz="1700" b="1">
                          <a:solidFill>
                            <a:srgbClr val="1F1F1F"/>
                          </a:solidFill>
                          <a:effectLst/>
                        </a:rPr>
                        <a:t>Mimicking the chase and interaction between hunters and targets.</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142835597"/>
                  </a:ext>
                </a:extLst>
              </a:tr>
              <a:tr h="1103217">
                <a:tc>
                  <a:txBody>
                    <a:bodyPr/>
                    <a:lstStyle/>
                    <a:p>
                      <a:pPr algn="ctr"/>
                      <a:r>
                        <a:rPr lang="en-IN" sz="1700" b="1">
                          <a:solidFill>
                            <a:srgbClr val="1F1F1F"/>
                          </a:solidFill>
                          <a:effectLst/>
                        </a:rPr>
                        <a:t>Mimicry-Based</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US" sz="1700" b="1">
                          <a:solidFill>
                            <a:srgbClr val="1F1F1F"/>
                          </a:solidFill>
                          <a:effectLst/>
                        </a:rPr>
                        <a:t>Cuckoo Search (CS), Firefly (FA)</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US" sz="1700" b="1">
                          <a:solidFill>
                            <a:srgbClr val="1F1F1F"/>
                          </a:solidFill>
                          <a:effectLst/>
                        </a:rPr>
                        <a:t>Xin She Yang 2009, Xin She Yang 2008</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tc>
                  <a:txBody>
                    <a:bodyPr/>
                    <a:lstStyle/>
                    <a:p>
                      <a:pPr algn="ctr"/>
                      <a:r>
                        <a:rPr lang="en-US" sz="1700" b="1" dirty="0">
                          <a:solidFill>
                            <a:srgbClr val="1F1F1F"/>
                          </a:solidFill>
                          <a:effectLst/>
                        </a:rPr>
                        <a:t>Animals copying others or using biological tricks to hide or attract.</a:t>
                      </a:r>
                    </a:p>
                  </a:txBody>
                  <a:tcPr marL="84863" marR="84863" marT="42431" marB="42431" anchor="ctr">
                    <a:lnL w="30480" cap="flat" cmpd="sng" algn="ctr">
                      <a:solidFill>
                        <a:srgbClr val="D9D9D9"/>
                      </a:solidFill>
                      <a:prstDash val="solid"/>
                      <a:round/>
                      <a:headEnd type="none" w="med" len="med"/>
                      <a:tailEnd type="none" w="med" len="med"/>
                    </a:lnL>
                    <a:lnR w="30480" cap="flat" cmpd="sng" algn="ctr">
                      <a:solidFill>
                        <a:srgbClr val="D9D9D9"/>
                      </a:solidFill>
                      <a:prstDash val="solid"/>
                      <a:round/>
                      <a:headEnd type="none" w="med" len="med"/>
                      <a:tailEnd type="none" w="med" len="med"/>
                    </a:lnR>
                    <a:lnT w="30480" cap="flat" cmpd="sng" algn="ctr">
                      <a:solidFill>
                        <a:srgbClr val="D9D9D9"/>
                      </a:solidFill>
                      <a:prstDash val="solid"/>
                      <a:round/>
                      <a:headEnd type="none" w="med" len="med"/>
                      <a:tailEnd type="none" w="med" len="med"/>
                    </a:lnT>
                    <a:lnB w="3048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609764779"/>
                  </a:ext>
                </a:extLst>
              </a:tr>
            </a:tbl>
          </a:graphicData>
        </a:graphic>
      </p:graphicFrame>
      <p:sp>
        <p:nvSpPr>
          <p:cNvPr id="8" name="Rectangle 1">
            <a:extLst>
              <a:ext uri="{FF2B5EF4-FFF2-40B4-BE49-F238E27FC236}">
                <a16:creationId xmlns:a16="http://schemas.microsoft.com/office/drawing/2014/main" id="{CAF1F42D-2A44-7AE0-DA4E-F901F05CDE2B}"/>
              </a:ext>
            </a:extLst>
          </p:cNvPr>
          <p:cNvSpPr>
            <a:spLocks noChangeArrowheads="1"/>
          </p:cNvSpPr>
          <p:nvPr/>
        </p:nvSpPr>
        <p:spPr bwMode="auto">
          <a:xfrm>
            <a:off x="752475" y="143986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339289" y="2653177"/>
            <a:ext cx="8280444" cy="6964776"/>
          </a:xfrm>
          <a:custGeom>
            <a:avLst/>
            <a:gdLst/>
            <a:ahLst/>
            <a:cxnLst/>
            <a:rect l="l" t="t" r="r" b="b"/>
            <a:pathLst>
              <a:path w="8280444" h="6964776">
                <a:moveTo>
                  <a:pt x="0" y="0"/>
                </a:moveTo>
                <a:lnTo>
                  <a:pt x="8280444" y="0"/>
                </a:lnTo>
                <a:lnTo>
                  <a:pt x="8280444" y="6964776"/>
                </a:lnTo>
                <a:lnTo>
                  <a:pt x="0" y="6964776"/>
                </a:lnTo>
                <a:lnTo>
                  <a:pt x="0" y="0"/>
                </a:lnTo>
                <a:close/>
              </a:path>
            </a:pathLst>
          </a:custGeom>
          <a:blipFill>
            <a:blip r:embed="rId2"/>
            <a:stretch>
              <a:fillRect l="-6915" t="-2926" r="-12080" b="-5300"/>
            </a:stretch>
          </a:blipFill>
        </p:spPr>
      </p:sp>
      <p:sp>
        <p:nvSpPr>
          <p:cNvPr id="3" name="TextBox 3"/>
          <p:cNvSpPr txBox="1"/>
          <p:nvPr/>
        </p:nvSpPr>
        <p:spPr>
          <a:xfrm>
            <a:off x="1862137" y="443540"/>
            <a:ext cx="15397163" cy="1038225"/>
          </a:xfrm>
          <a:prstGeom prst="rect">
            <a:avLst/>
          </a:prstGeom>
        </p:spPr>
        <p:txBody>
          <a:bodyPr lIns="0" tIns="0" rIns="0" bIns="0" rtlCol="0" anchor="t">
            <a:spAutoFit/>
          </a:bodyPr>
          <a:lstStyle/>
          <a:p>
            <a:pPr algn="just">
              <a:lnSpc>
                <a:spcPts val="8400"/>
              </a:lnSpc>
            </a:pPr>
            <a:r>
              <a:rPr lang="en-US" sz="6000" b="1">
                <a:solidFill>
                  <a:srgbClr val="000000"/>
                </a:solidFill>
                <a:latin typeface="Cambria Bold"/>
                <a:ea typeface="Cambria Bold"/>
                <a:cs typeface="Cambria Bold"/>
                <a:sym typeface="Cambria Bold"/>
              </a:rPr>
              <a:t>Challenges And Gaps In Current Research </a:t>
            </a:r>
          </a:p>
        </p:txBody>
      </p:sp>
      <p:sp>
        <p:nvSpPr>
          <p:cNvPr id="4" name="TextBox 4"/>
          <p:cNvSpPr txBox="1"/>
          <p:nvPr/>
        </p:nvSpPr>
        <p:spPr>
          <a:xfrm>
            <a:off x="951033" y="1710365"/>
            <a:ext cx="16419443" cy="782171"/>
          </a:xfrm>
          <a:prstGeom prst="rect">
            <a:avLst/>
          </a:prstGeom>
        </p:spPr>
        <p:txBody>
          <a:bodyPr lIns="0" tIns="0" rIns="0" bIns="0" rtlCol="0" anchor="t">
            <a:spAutoFit/>
          </a:bodyPr>
          <a:lstStyle/>
          <a:p>
            <a:pPr algn="just">
              <a:lnSpc>
                <a:spcPts val="3080"/>
              </a:lnSpc>
            </a:pPr>
            <a:r>
              <a:rPr lang="en-US" sz="2200">
                <a:solidFill>
                  <a:srgbClr val="000000"/>
                </a:solidFill>
                <a:latin typeface="Cambria"/>
                <a:ea typeface="Cambria"/>
                <a:cs typeface="Cambria"/>
                <a:sym typeface="Cambria"/>
              </a:rPr>
              <a:t>Nature-inspired metaheuristics (PSO, GWO, GA) are essential for </a:t>
            </a:r>
            <a:r>
              <a:rPr lang="en-US" sz="2200" b="1">
                <a:solidFill>
                  <a:srgbClr val="000000"/>
                </a:solidFill>
                <a:latin typeface="Cambria Bold"/>
                <a:ea typeface="Cambria Bold"/>
                <a:cs typeface="Cambria Bold"/>
                <a:sym typeface="Cambria Bold"/>
              </a:rPr>
              <a:t>solving complex problems</a:t>
            </a:r>
            <a:r>
              <a:rPr lang="en-US" sz="2200">
                <a:solidFill>
                  <a:srgbClr val="000000"/>
                </a:solidFill>
                <a:latin typeface="Cambria"/>
                <a:ea typeface="Cambria"/>
                <a:cs typeface="Cambria"/>
                <a:sym typeface="Cambria"/>
              </a:rPr>
              <a:t>, mimicking effective animal behaviors like flocking and hunting.</a:t>
            </a:r>
          </a:p>
        </p:txBody>
      </p:sp>
      <p:sp>
        <p:nvSpPr>
          <p:cNvPr id="5" name="TextBox 5"/>
          <p:cNvSpPr txBox="1"/>
          <p:nvPr/>
        </p:nvSpPr>
        <p:spPr>
          <a:xfrm>
            <a:off x="951033" y="2747518"/>
            <a:ext cx="12615392" cy="431874"/>
          </a:xfrm>
          <a:prstGeom prst="rect">
            <a:avLst/>
          </a:prstGeom>
        </p:spPr>
        <p:txBody>
          <a:bodyPr lIns="0" tIns="0" rIns="0" bIns="0" rtlCol="0" anchor="t">
            <a:spAutoFit/>
          </a:bodyPr>
          <a:lstStyle/>
          <a:p>
            <a:pPr algn="l">
              <a:lnSpc>
                <a:spcPts val="3499"/>
              </a:lnSpc>
            </a:pPr>
            <a:r>
              <a:rPr lang="en-US" sz="2499" b="1">
                <a:solidFill>
                  <a:srgbClr val="000000"/>
                </a:solidFill>
                <a:latin typeface="Cambria Bold"/>
                <a:ea typeface="Cambria Bold"/>
                <a:cs typeface="Cambria Bold"/>
                <a:sym typeface="Cambria Bold"/>
              </a:rPr>
              <a:t>The Challenge:</a:t>
            </a:r>
            <a:r>
              <a:rPr lang="en-US" sz="2499">
                <a:solidFill>
                  <a:srgbClr val="000000"/>
                </a:solidFill>
                <a:latin typeface="Cambria"/>
                <a:ea typeface="Cambria"/>
                <a:cs typeface="Cambria"/>
                <a:sym typeface="Cambria"/>
              </a:rPr>
              <a:t>  </a:t>
            </a:r>
          </a:p>
        </p:txBody>
      </p:sp>
      <p:grpSp>
        <p:nvGrpSpPr>
          <p:cNvPr id="6" name="Group 6"/>
          <p:cNvGrpSpPr/>
          <p:nvPr/>
        </p:nvGrpSpPr>
        <p:grpSpPr>
          <a:xfrm>
            <a:off x="1028700" y="4060300"/>
            <a:ext cx="8132055" cy="1741096"/>
            <a:chOff x="0" y="0"/>
            <a:chExt cx="10842740" cy="2321461"/>
          </a:xfrm>
        </p:grpSpPr>
        <p:sp>
          <p:nvSpPr>
            <p:cNvPr id="7" name="Freeform 7"/>
            <p:cNvSpPr/>
            <p:nvPr/>
          </p:nvSpPr>
          <p:spPr>
            <a:xfrm>
              <a:off x="0" y="111531"/>
              <a:ext cx="1652820" cy="2209632"/>
            </a:xfrm>
            <a:custGeom>
              <a:avLst/>
              <a:gdLst/>
              <a:ahLst/>
              <a:cxnLst/>
              <a:rect l="l" t="t" r="r" b="b"/>
              <a:pathLst>
                <a:path w="1652820" h="2209632">
                  <a:moveTo>
                    <a:pt x="0" y="0"/>
                  </a:moveTo>
                  <a:lnTo>
                    <a:pt x="1652820" y="0"/>
                  </a:lnTo>
                  <a:lnTo>
                    <a:pt x="1652820" y="2209632"/>
                  </a:lnTo>
                  <a:lnTo>
                    <a:pt x="0" y="2209632"/>
                  </a:lnTo>
                  <a:lnTo>
                    <a:pt x="0" y="0"/>
                  </a:lnTo>
                  <a:close/>
                </a:path>
              </a:pathLst>
            </a:custGeom>
            <a:blipFill>
              <a:blip r:embed="rId3"/>
              <a:stretch>
                <a:fillRect l="-29591" t="-12909" r="-32827" b="-12416"/>
              </a:stretch>
            </a:blipFill>
          </p:spPr>
        </p:sp>
        <p:sp>
          <p:nvSpPr>
            <p:cNvPr id="8" name="TextBox 8"/>
            <p:cNvSpPr txBox="1"/>
            <p:nvPr/>
          </p:nvSpPr>
          <p:spPr>
            <a:xfrm>
              <a:off x="2213581" y="-76200"/>
              <a:ext cx="6639467" cy="783068"/>
            </a:xfrm>
            <a:prstGeom prst="rect">
              <a:avLst/>
            </a:prstGeom>
          </p:spPr>
          <p:txBody>
            <a:bodyPr lIns="0" tIns="0" rIns="0" bIns="0" rtlCol="0" anchor="t">
              <a:spAutoFit/>
            </a:bodyPr>
            <a:lstStyle/>
            <a:p>
              <a:pPr algn="l">
                <a:lnSpc>
                  <a:spcPts val="4899"/>
                </a:lnSpc>
              </a:pPr>
              <a:r>
                <a:rPr lang="en-US" sz="3499" b="1">
                  <a:solidFill>
                    <a:srgbClr val="000000"/>
                  </a:solidFill>
                  <a:latin typeface="Cambria Bold"/>
                  <a:ea typeface="Cambria Bold"/>
                  <a:cs typeface="Cambria Bold"/>
                  <a:sym typeface="Cambria Bold"/>
                </a:rPr>
                <a:t>Premature Convergence</a:t>
              </a:r>
            </a:p>
          </p:txBody>
        </p:sp>
        <p:sp>
          <p:nvSpPr>
            <p:cNvPr id="9" name="TextBox 9"/>
            <p:cNvSpPr txBox="1"/>
            <p:nvPr/>
          </p:nvSpPr>
          <p:spPr>
            <a:xfrm>
              <a:off x="2213581" y="776718"/>
              <a:ext cx="8629159" cy="1544743"/>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The algorithm settles on a "</a:t>
              </a:r>
              <a:r>
                <a:rPr lang="en-US" sz="2200" b="1" u="none" strike="noStrike">
                  <a:solidFill>
                    <a:srgbClr val="000000"/>
                  </a:solidFill>
                  <a:latin typeface="Cambria Bold"/>
                  <a:ea typeface="Cambria Bold"/>
                  <a:cs typeface="Cambria Bold"/>
                  <a:sym typeface="Cambria Bold"/>
                </a:rPr>
                <a:t>good enough</a:t>
              </a:r>
              <a:r>
                <a:rPr lang="en-US" sz="2200" u="none" strike="noStrike">
                  <a:solidFill>
                    <a:srgbClr val="000000"/>
                  </a:solidFill>
                  <a:latin typeface="Cambria"/>
                  <a:ea typeface="Cambria"/>
                  <a:cs typeface="Cambria"/>
                  <a:sym typeface="Cambria"/>
                </a:rPr>
                <a:t>" solution too early, losing the diversity needed to find the true global optimum.</a:t>
              </a:r>
            </a:p>
          </p:txBody>
        </p:sp>
      </p:grpSp>
      <p:grpSp>
        <p:nvGrpSpPr>
          <p:cNvPr id="10" name="Group 10"/>
          <p:cNvGrpSpPr/>
          <p:nvPr/>
        </p:nvGrpSpPr>
        <p:grpSpPr>
          <a:xfrm>
            <a:off x="967788" y="5848798"/>
            <a:ext cx="8192967" cy="1817916"/>
            <a:chOff x="0" y="0"/>
            <a:chExt cx="10923956" cy="2423888"/>
          </a:xfrm>
        </p:grpSpPr>
        <p:sp>
          <p:nvSpPr>
            <p:cNvPr id="11" name="Freeform 11"/>
            <p:cNvSpPr/>
            <p:nvPr/>
          </p:nvSpPr>
          <p:spPr>
            <a:xfrm>
              <a:off x="0" y="0"/>
              <a:ext cx="1715564" cy="2005472"/>
            </a:xfrm>
            <a:custGeom>
              <a:avLst/>
              <a:gdLst/>
              <a:ahLst/>
              <a:cxnLst/>
              <a:rect l="l" t="t" r="r" b="b"/>
              <a:pathLst>
                <a:path w="1715564" h="2005472">
                  <a:moveTo>
                    <a:pt x="0" y="0"/>
                  </a:moveTo>
                  <a:lnTo>
                    <a:pt x="1715564" y="0"/>
                  </a:lnTo>
                  <a:lnTo>
                    <a:pt x="1715564" y="2005472"/>
                  </a:lnTo>
                  <a:lnTo>
                    <a:pt x="0" y="2005472"/>
                  </a:lnTo>
                  <a:lnTo>
                    <a:pt x="0" y="0"/>
                  </a:lnTo>
                  <a:close/>
                </a:path>
              </a:pathLst>
            </a:custGeom>
            <a:blipFill>
              <a:blip r:embed="rId4"/>
              <a:stretch>
                <a:fillRect l="-9153" r="-31931"/>
              </a:stretch>
            </a:blipFill>
          </p:spPr>
        </p:sp>
        <p:sp>
          <p:nvSpPr>
            <p:cNvPr id="12" name="TextBox 12"/>
            <p:cNvSpPr txBox="1"/>
            <p:nvPr/>
          </p:nvSpPr>
          <p:spPr>
            <a:xfrm>
              <a:off x="2292372" y="26282"/>
              <a:ext cx="6782856" cy="783068"/>
            </a:xfrm>
            <a:prstGeom prst="rect">
              <a:avLst/>
            </a:prstGeom>
          </p:spPr>
          <p:txBody>
            <a:bodyPr lIns="0" tIns="0" rIns="0" bIns="0" rtlCol="0" anchor="t">
              <a:spAutoFit/>
            </a:bodyPr>
            <a:lstStyle/>
            <a:p>
              <a:pPr algn="just">
                <a:lnSpc>
                  <a:spcPts val="4899"/>
                </a:lnSpc>
              </a:pPr>
              <a:r>
                <a:rPr lang="en-US" sz="3499" b="1">
                  <a:solidFill>
                    <a:srgbClr val="000000"/>
                  </a:solidFill>
                  <a:latin typeface="Cambria Bold"/>
                  <a:ea typeface="Cambria Bold"/>
                  <a:cs typeface="Cambria Bold"/>
                  <a:sym typeface="Cambria Bold"/>
                </a:rPr>
                <a:t>Local Optima Stagnation</a:t>
              </a:r>
            </a:p>
          </p:txBody>
        </p:sp>
        <p:sp>
          <p:nvSpPr>
            <p:cNvPr id="13" name="TextBox 13"/>
            <p:cNvSpPr txBox="1"/>
            <p:nvPr/>
          </p:nvSpPr>
          <p:spPr>
            <a:xfrm>
              <a:off x="2265394" y="879145"/>
              <a:ext cx="8658562" cy="1544743"/>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The search gets trapped in deceptive regions of the landscape, unable to </a:t>
              </a:r>
              <a:r>
                <a:rPr lang="en-US" sz="2200" b="1" u="none" strike="noStrike">
                  <a:solidFill>
                    <a:srgbClr val="000000"/>
                  </a:solidFill>
                  <a:latin typeface="Cambria Bold"/>
                  <a:ea typeface="Cambria Bold"/>
                  <a:cs typeface="Cambria Bold"/>
                  <a:sym typeface="Cambria Bold"/>
                </a:rPr>
                <a:t>escape</a:t>
              </a:r>
              <a:r>
                <a:rPr lang="en-US" sz="2200" u="none" strike="noStrike">
                  <a:solidFill>
                    <a:srgbClr val="000000"/>
                  </a:solidFill>
                  <a:latin typeface="Cambria"/>
                  <a:ea typeface="Cambria"/>
                  <a:cs typeface="Cambria"/>
                  <a:sym typeface="Cambria"/>
                </a:rPr>
                <a:t> and </a:t>
              </a:r>
              <a:r>
                <a:rPr lang="en-US" sz="2200" b="1" u="none" strike="noStrike">
                  <a:solidFill>
                    <a:srgbClr val="000000"/>
                  </a:solidFill>
                  <a:latin typeface="Cambria Bold"/>
                  <a:ea typeface="Cambria Bold"/>
                  <a:cs typeface="Cambria Bold"/>
                  <a:sym typeface="Cambria Bold"/>
                </a:rPr>
                <a:t>explore</a:t>
              </a:r>
              <a:r>
                <a:rPr lang="en-US" sz="2200" u="none" strike="noStrike">
                  <a:solidFill>
                    <a:srgbClr val="000000"/>
                  </a:solidFill>
                  <a:latin typeface="Cambria"/>
                  <a:ea typeface="Cambria"/>
                  <a:cs typeface="Cambria"/>
                  <a:sym typeface="Cambria"/>
                </a:rPr>
                <a:t> more promising areas.</a:t>
              </a:r>
            </a:p>
          </p:txBody>
        </p:sp>
      </p:grpSp>
      <p:grpSp>
        <p:nvGrpSpPr>
          <p:cNvPr id="14" name="Group 14"/>
          <p:cNvGrpSpPr/>
          <p:nvPr/>
        </p:nvGrpSpPr>
        <p:grpSpPr>
          <a:xfrm>
            <a:off x="1011945" y="7714339"/>
            <a:ext cx="8132055" cy="1828385"/>
            <a:chOff x="0" y="0"/>
            <a:chExt cx="10842740" cy="2437847"/>
          </a:xfrm>
        </p:grpSpPr>
        <p:sp>
          <p:nvSpPr>
            <p:cNvPr id="15" name="Freeform 15"/>
            <p:cNvSpPr/>
            <p:nvPr/>
          </p:nvSpPr>
          <p:spPr>
            <a:xfrm>
              <a:off x="0" y="0"/>
              <a:ext cx="1938732" cy="2437549"/>
            </a:xfrm>
            <a:custGeom>
              <a:avLst/>
              <a:gdLst/>
              <a:ahLst/>
              <a:cxnLst/>
              <a:rect l="l" t="t" r="r" b="b"/>
              <a:pathLst>
                <a:path w="1938732" h="2437549">
                  <a:moveTo>
                    <a:pt x="0" y="0"/>
                  </a:moveTo>
                  <a:lnTo>
                    <a:pt x="1938732" y="0"/>
                  </a:lnTo>
                  <a:lnTo>
                    <a:pt x="1938732" y="2437549"/>
                  </a:lnTo>
                  <a:lnTo>
                    <a:pt x="0" y="2437549"/>
                  </a:lnTo>
                  <a:lnTo>
                    <a:pt x="0" y="0"/>
                  </a:lnTo>
                  <a:close/>
                </a:path>
              </a:pathLst>
            </a:custGeom>
            <a:blipFill>
              <a:blip r:embed="rId5"/>
              <a:stretch>
                <a:fillRect l="-8818" r="-40484"/>
              </a:stretch>
            </a:blipFill>
          </p:spPr>
        </p:sp>
        <p:sp>
          <p:nvSpPr>
            <p:cNvPr id="16" name="TextBox 16"/>
            <p:cNvSpPr txBox="1"/>
            <p:nvPr/>
          </p:nvSpPr>
          <p:spPr>
            <a:xfrm>
              <a:off x="2185993" y="35854"/>
              <a:ext cx="4648261" cy="783068"/>
            </a:xfrm>
            <a:prstGeom prst="rect">
              <a:avLst/>
            </a:prstGeom>
          </p:spPr>
          <p:txBody>
            <a:bodyPr lIns="0" tIns="0" rIns="0" bIns="0" rtlCol="0" anchor="t">
              <a:spAutoFit/>
            </a:bodyPr>
            <a:lstStyle/>
            <a:p>
              <a:pPr algn="ctr">
                <a:lnSpc>
                  <a:spcPts val="4899"/>
                </a:lnSpc>
              </a:pPr>
              <a:r>
                <a:rPr lang="en-US" sz="3499" b="1">
                  <a:solidFill>
                    <a:srgbClr val="000000"/>
                  </a:solidFill>
                  <a:latin typeface="Cambria Bold"/>
                  <a:ea typeface="Cambria Bold"/>
                  <a:cs typeface="Cambria Bold"/>
                  <a:sym typeface="Cambria Bold"/>
                </a:rPr>
                <a:t>Slow Adaptation</a:t>
              </a:r>
            </a:p>
          </p:txBody>
        </p:sp>
        <p:sp>
          <p:nvSpPr>
            <p:cNvPr id="17" name="TextBox 17"/>
            <p:cNvSpPr txBox="1"/>
            <p:nvPr/>
          </p:nvSpPr>
          <p:spPr>
            <a:xfrm>
              <a:off x="2213581" y="893104"/>
              <a:ext cx="8629159" cy="1544743"/>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Many algorithms struggle to react when the </a:t>
              </a:r>
              <a:r>
                <a:rPr lang="en-US" sz="2200" b="1" u="none" strike="noStrike">
                  <a:solidFill>
                    <a:srgbClr val="000000"/>
                  </a:solidFill>
                  <a:latin typeface="Cambria Bold"/>
                  <a:ea typeface="Cambria Bold"/>
                  <a:cs typeface="Cambria Bold"/>
                  <a:sym typeface="Cambria Bold"/>
                </a:rPr>
                <a:t>optimal solution</a:t>
              </a:r>
              <a:r>
                <a:rPr lang="en-US" sz="2200" u="none" strike="noStrike">
                  <a:solidFill>
                    <a:srgbClr val="000000"/>
                  </a:solidFill>
                  <a:latin typeface="Cambria"/>
                  <a:ea typeface="Cambria"/>
                  <a:cs typeface="Cambria"/>
                  <a:sym typeface="Cambria"/>
                </a:rPr>
                <a:t> changes over time, a common scenario in dynamic, real-world problems.</a:t>
              </a:r>
            </a:p>
          </p:txBody>
        </p:sp>
      </p:grpSp>
      <p:sp>
        <p:nvSpPr>
          <p:cNvPr id="18" name="TextBox 18"/>
          <p:cNvSpPr txBox="1"/>
          <p:nvPr/>
        </p:nvSpPr>
        <p:spPr>
          <a:xfrm>
            <a:off x="3313293" y="2787672"/>
            <a:ext cx="9529601" cy="782171"/>
          </a:xfrm>
          <a:prstGeom prst="rect">
            <a:avLst/>
          </a:prstGeom>
        </p:spPr>
        <p:txBody>
          <a:bodyPr lIns="0" tIns="0" rIns="0" bIns="0" rtlCol="0" anchor="t">
            <a:spAutoFit/>
          </a:bodyPr>
          <a:lstStyle/>
          <a:p>
            <a:pPr algn="just">
              <a:lnSpc>
                <a:spcPts val="3080"/>
              </a:lnSpc>
            </a:pPr>
            <a:r>
              <a:rPr lang="en-US" sz="2200">
                <a:solidFill>
                  <a:srgbClr val="000000"/>
                </a:solidFill>
                <a:latin typeface="Cambria"/>
                <a:ea typeface="Cambria"/>
                <a:cs typeface="Cambria"/>
                <a:sym typeface="Cambria"/>
              </a:rPr>
              <a:t>Despite their success, these "</a:t>
            </a:r>
            <a:r>
              <a:rPr lang="en-US" sz="2200" b="1">
                <a:solidFill>
                  <a:srgbClr val="000000"/>
                </a:solidFill>
                <a:latin typeface="Cambria Bold"/>
                <a:ea typeface="Cambria Bold"/>
                <a:cs typeface="Cambria Bold"/>
                <a:sym typeface="Cambria Bold"/>
              </a:rPr>
              <a:t>predators</a:t>
            </a:r>
            <a:r>
              <a:rPr lang="en-US" sz="2200">
                <a:solidFill>
                  <a:srgbClr val="000000"/>
                </a:solidFill>
                <a:latin typeface="Cambria"/>
                <a:ea typeface="Cambria"/>
                <a:cs typeface="Cambria"/>
                <a:sym typeface="Cambria"/>
              </a:rPr>
              <a:t>" often face critical challenges in complex search landscapes.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46382" y="3149428"/>
            <a:ext cx="5338254" cy="5397119"/>
          </a:xfrm>
          <a:custGeom>
            <a:avLst/>
            <a:gdLst/>
            <a:ahLst/>
            <a:cxnLst/>
            <a:rect l="l" t="t" r="r" b="b"/>
            <a:pathLst>
              <a:path w="5338254" h="5397119">
                <a:moveTo>
                  <a:pt x="0" y="0"/>
                </a:moveTo>
                <a:lnTo>
                  <a:pt x="5338253" y="0"/>
                </a:lnTo>
                <a:lnTo>
                  <a:pt x="5338253" y="5397119"/>
                </a:lnTo>
                <a:lnTo>
                  <a:pt x="0" y="5397119"/>
                </a:lnTo>
                <a:lnTo>
                  <a:pt x="0" y="0"/>
                </a:lnTo>
                <a:close/>
              </a:path>
            </a:pathLst>
          </a:custGeom>
          <a:blipFill>
            <a:blip r:embed="rId2"/>
            <a:stretch>
              <a:fillRect l="-5874" r="-4438"/>
            </a:stretch>
          </a:blipFill>
        </p:spPr>
      </p:sp>
      <p:grpSp>
        <p:nvGrpSpPr>
          <p:cNvPr id="3" name="Group 3"/>
          <p:cNvGrpSpPr/>
          <p:nvPr/>
        </p:nvGrpSpPr>
        <p:grpSpPr>
          <a:xfrm>
            <a:off x="13100417" y="2879316"/>
            <a:ext cx="3153180" cy="1020465"/>
            <a:chOff x="0" y="0"/>
            <a:chExt cx="830467" cy="268764"/>
          </a:xfrm>
        </p:grpSpPr>
        <p:sp>
          <p:nvSpPr>
            <p:cNvPr id="4" name="Freeform 4"/>
            <p:cNvSpPr/>
            <p:nvPr/>
          </p:nvSpPr>
          <p:spPr>
            <a:xfrm>
              <a:off x="0" y="0"/>
              <a:ext cx="830467" cy="268764"/>
            </a:xfrm>
            <a:custGeom>
              <a:avLst/>
              <a:gdLst/>
              <a:ahLst/>
              <a:cxnLst/>
              <a:rect l="l" t="t" r="r" b="b"/>
              <a:pathLst>
                <a:path w="830467" h="268764">
                  <a:moveTo>
                    <a:pt x="58927" y="0"/>
                  </a:moveTo>
                  <a:lnTo>
                    <a:pt x="771540" y="0"/>
                  </a:lnTo>
                  <a:cubicBezTo>
                    <a:pt x="787169" y="0"/>
                    <a:pt x="802157" y="6208"/>
                    <a:pt x="813208" y="17259"/>
                  </a:cubicBezTo>
                  <a:cubicBezTo>
                    <a:pt x="824259" y="28310"/>
                    <a:pt x="830467" y="43298"/>
                    <a:pt x="830467" y="58927"/>
                  </a:cubicBezTo>
                  <a:lnTo>
                    <a:pt x="830467" y="209838"/>
                  </a:lnTo>
                  <a:cubicBezTo>
                    <a:pt x="830467" y="225466"/>
                    <a:pt x="824259" y="240454"/>
                    <a:pt x="813208" y="251505"/>
                  </a:cubicBezTo>
                  <a:cubicBezTo>
                    <a:pt x="802157" y="262556"/>
                    <a:pt x="787169" y="268764"/>
                    <a:pt x="771540" y="268764"/>
                  </a:cubicBezTo>
                  <a:lnTo>
                    <a:pt x="58927" y="268764"/>
                  </a:lnTo>
                  <a:cubicBezTo>
                    <a:pt x="43298" y="268764"/>
                    <a:pt x="28310" y="262556"/>
                    <a:pt x="17259" y="251505"/>
                  </a:cubicBezTo>
                  <a:cubicBezTo>
                    <a:pt x="6208" y="240454"/>
                    <a:pt x="0" y="225466"/>
                    <a:pt x="0" y="209838"/>
                  </a:cubicBezTo>
                  <a:lnTo>
                    <a:pt x="0" y="58927"/>
                  </a:lnTo>
                  <a:cubicBezTo>
                    <a:pt x="0" y="43298"/>
                    <a:pt x="6208" y="28310"/>
                    <a:pt x="17259" y="17259"/>
                  </a:cubicBezTo>
                  <a:cubicBezTo>
                    <a:pt x="28310" y="6208"/>
                    <a:pt x="43298" y="0"/>
                    <a:pt x="58927" y="0"/>
                  </a:cubicBezTo>
                  <a:close/>
                </a:path>
              </a:pathLst>
            </a:custGeom>
            <a:solidFill>
              <a:srgbClr val="AFAF9E"/>
            </a:solidFill>
          </p:spPr>
        </p:sp>
        <p:sp>
          <p:nvSpPr>
            <p:cNvPr id="5" name="TextBox 5"/>
            <p:cNvSpPr txBox="1"/>
            <p:nvPr/>
          </p:nvSpPr>
          <p:spPr>
            <a:xfrm>
              <a:off x="0" y="-38100"/>
              <a:ext cx="830467" cy="306864"/>
            </a:xfrm>
            <a:prstGeom prst="rect">
              <a:avLst/>
            </a:prstGeom>
          </p:spPr>
          <p:txBody>
            <a:bodyPr lIns="50800" tIns="50800" rIns="50800" bIns="50800" rtlCol="0" anchor="ctr"/>
            <a:lstStyle/>
            <a:p>
              <a:pPr algn="ctr">
                <a:lnSpc>
                  <a:spcPts val="3499"/>
                </a:lnSpc>
                <a:spcBef>
                  <a:spcPct val="0"/>
                </a:spcBef>
              </a:pPr>
              <a:r>
                <a:rPr lang="en-US" sz="2499" b="1">
                  <a:solidFill>
                    <a:srgbClr val="000000"/>
                  </a:solidFill>
                  <a:latin typeface="Comic Sans Bold"/>
                  <a:ea typeface="Comic Sans Bold"/>
                  <a:cs typeface="Comic Sans Bold"/>
                  <a:sym typeface="Comic Sans Bold"/>
                </a:rPr>
                <a:t>1.Initialization (LHS)</a:t>
              </a:r>
            </a:p>
          </p:txBody>
        </p:sp>
      </p:grpSp>
      <p:sp>
        <p:nvSpPr>
          <p:cNvPr id="6" name="AutoShape 6"/>
          <p:cNvSpPr/>
          <p:nvPr/>
        </p:nvSpPr>
        <p:spPr>
          <a:xfrm flipV="1">
            <a:off x="10760305" y="3385548"/>
            <a:ext cx="2340112" cy="669574"/>
          </a:xfrm>
          <a:prstGeom prst="line">
            <a:avLst/>
          </a:prstGeom>
          <a:ln w="38100" cap="flat">
            <a:solidFill>
              <a:srgbClr val="000000"/>
            </a:solidFill>
            <a:prstDash val="solid"/>
            <a:headEnd type="none" w="sm" len="sm"/>
            <a:tailEnd type="arrow" w="med" len="sm"/>
          </a:ln>
        </p:spPr>
      </p:sp>
      <p:grpSp>
        <p:nvGrpSpPr>
          <p:cNvPr id="7" name="Group 7"/>
          <p:cNvGrpSpPr/>
          <p:nvPr/>
        </p:nvGrpSpPr>
        <p:grpSpPr>
          <a:xfrm>
            <a:off x="13105828" y="5777729"/>
            <a:ext cx="4353170" cy="1070884"/>
            <a:chOff x="0" y="0"/>
            <a:chExt cx="1146514" cy="282044"/>
          </a:xfrm>
        </p:grpSpPr>
        <p:sp>
          <p:nvSpPr>
            <p:cNvPr id="8" name="Freeform 8"/>
            <p:cNvSpPr/>
            <p:nvPr/>
          </p:nvSpPr>
          <p:spPr>
            <a:xfrm>
              <a:off x="0" y="0"/>
              <a:ext cx="1146514" cy="282044"/>
            </a:xfrm>
            <a:custGeom>
              <a:avLst/>
              <a:gdLst/>
              <a:ahLst/>
              <a:cxnLst/>
              <a:rect l="l" t="t" r="r" b="b"/>
              <a:pathLst>
                <a:path w="1146514" h="282044">
                  <a:moveTo>
                    <a:pt x="42683" y="0"/>
                  </a:moveTo>
                  <a:lnTo>
                    <a:pt x="1103831" y="0"/>
                  </a:lnTo>
                  <a:cubicBezTo>
                    <a:pt x="1115151" y="0"/>
                    <a:pt x="1126008" y="4497"/>
                    <a:pt x="1134012" y="12502"/>
                  </a:cubicBezTo>
                  <a:cubicBezTo>
                    <a:pt x="1142017" y="20506"/>
                    <a:pt x="1146514" y="31363"/>
                    <a:pt x="1146514" y="42683"/>
                  </a:cubicBezTo>
                  <a:lnTo>
                    <a:pt x="1146514" y="239361"/>
                  </a:lnTo>
                  <a:cubicBezTo>
                    <a:pt x="1146514" y="250681"/>
                    <a:pt x="1142017" y="261538"/>
                    <a:pt x="1134012" y="269542"/>
                  </a:cubicBezTo>
                  <a:cubicBezTo>
                    <a:pt x="1126008" y="277547"/>
                    <a:pt x="1115151" y="282044"/>
                    <a:pt x="1103831" y="282044"/>
                  </a:cubicBezTo>
                  <a:lnTo>
                    <a:pt x="42683" y="282044"/>
                  </a:lnTo>
                  <a:cubicBezTo>
                    <a:pt x="31363" y="282044"/>
                    <a:pt x="20506" y="277547"/>
                    <a:pt x="12502" y="269542"/>
                  </a:cubicBezTo>
                  <a:cubicBezTo>
                    <a:pt x="4497" y="261538"/>
                    <a:pt x="0" y="250681"/>
                    <a:pt x="0" y="239361"/>
                  </a:cubicBezTo>
                  <a:lnTo>
                    <a:pt x="0" y="42683"/>
                  </a:lnTo>
                  <a:cubicBezTo>
                    <a:pt x="0" y="31363"/>
                    <a:pt x="4497" y="20506"/>
                    <a:pt x="12502" y="12502"/>
                  </a:cubicBezTo>
                  <a:cubicBezTo>
                    <a:pt x="20506" y="4497"/>
                    <a:pt x="31363" y="0"/>
                    <a:pt x="42683" y="0"/>
                  </a:cubicBezTo>
                  <a:close/>
                </a:path>
              </a:pathLst>
            </a:custGeom>
            <a:solidFill>
              <a:srgbClr val="AFAF9E"/>
            </a:solidFill>
          </p:spPr>
        </p:sp>
        <p:sp>
          <p:nvSpPr>
            <p:cNvPr id="9" name="TextBox 9"/>
            <p:cNvSpPr txBox="1"/>
            <p:nvPr/>
          </p:nvSpPr>
          <p:spPr>
            <a:xfrm>
              <a:off x="0" y="-38100"/>
              <a:ext cx="1146514" cy="320144"/>
            </a:xfrm>
            <a:prstGeom prst="rect">
              <a:avLst/>
            </a:prstGeom>
          </p:spPr>
          <p:txBody>
            <a:bodyPr lIns="50800" tIns="50800" rIns="50800" bIns="50800" rtlCol="0" anchor="ctr"/>
            <a:lstStyle/>
            <a:p>
              <a:pPr algn="ctr">
                <a:lnSpc>
                  <a:spcPts val="3499"/>
                </a:lnSpc>
                <a:spcBef>
                  <a:spcPct val="0"/>
                </a:spcBef>
              </a:pPr>
              <a:r>
                <a:rPr lang="en-US" sz="2499" b="1">
                  <a:solidFill>
                    <a:srgbClr val="000000"/>
                  </a:solidFill>
                  <a:latin typeface="Comic Sans Bold"/>
                  <a:ea typeface="Comic Sans Bold"/>
                  <a:cs typeface="Comic Sans Bold"/>
                  <a:sym typeface="Comic Sans Bold"/>
                </a:rPr>
                <a:t>2.Camouflage Density Function &amp; Escape Risk</a:t>
              </a:r>
            </a:p>
          </p:txBody>
        </p:sp>
      </p:grpSp>
      <p:sp>
        <p:nvSpPr>
          <p:cNvPr id="10" name="AutoShape 10"/>
          <p:cNvSpPr/>
          <p:nvPr/>
        </p:nvSpPr>
        <p:spPr>
          <a:xfrm flipV="1">
            <a:off x="11175312" y="6313171"/>
            <a:ext cx="1930516" cy="358632"/>
          </a:xfrm>
          <a:prstGeom prst="line">
            <a:avLst/>
          </a:prstGeom>
          <a:ln w="38100" cap="flat">
            <a:solidFill>
              <a:srgbClr val="000000"/>
            </a:solidFill>
            <a:prstDash val="solid"/>
            <a:headEnd type="none" w="sm" len="sm"/>
            <a:tailEnd type="arrow" w="med" len="sm"/>
          </a:ln>
        </p:spPr>
      </p:sp>
      <p:grpSp>
        <p:nvGrpSpPr>
          <p:cNvPr id="11" name="Group 11"/>
          <p:cNvGrpSpPr/>
          <p:nvPr/>
        </p:nvGrpSpPr>
        <p:grpSpPr>
          <a:xfrm>
            <a:off x="4645951" y="9044193"/>
            <a:ext cx="9023599" cy="840395"/>
            <a:chOff x="0" y="0"/>
            <a:chExt cx="2376586" cy="221339"/>
          </a:xfrm>
        </p:grpSpPr>
        <p:sp>
          <p:nvSpPr>
            <p:cNvPr id="12" name="Freeform 12"/>
            <p:cNvSpPr/>
            <p:nvPr/>
          </p:nvSpPr>
          <p:spPr>
            <a:xfrm>
              <a:off x="0" y="0"/>
              <a:ext cx="2376586" cy="221339"/>
            </a:xfrm>
            <a:custGeom>
              <a:avLst/>
              <a:gdLst/>
              <a:ahLst/>
              <a:cxnLst/>
              <a:rect l="l" t="t" r="r" b="b"/>
              <a:pathLst>
                <a:path w="2376586" h="221339">
                  <a:moveTo>
                    <a:pt x="20591" y="0"/>
                  </a:moveTo>
                  <a:lnTo>
                    <a:pt x="2355995" y="0"/>
                  </a:lnTo>
                  <a:cubicBezTo>
                    <a:pt x="2367367" y="0"/>
                    <a:pt x="2376586" y="9219"/>
                    <a:pt x="2376586" y="20591"/>
                  </a:cubicBezTo>
                  <a:lnTo>
                    <a:pt x="2376586" y="200748"/>
                  </a:lnTo>
                  <a:cubicBezTo>
                    <a:pt x="2376586" y="212120"/>
                    <a:pt x="2367367" y="221339"/>
                    <a:pt x="2355995" y="221339"/>
                  </a:cubicBezTo>
                  <a:lnTo>
                    <a:pt x="20591" y="221339"/>
                  </a:lnTo>
                  <a:cubicBezTo>
                    <a:pt x="9219" y="221339"/>
                    <a:pt x="0" y="212120"/>
                    <a:pt x="0" y="200748"/>
                  </a:cubicBezTo>
                  <a:lnTo>
                    <a:pt x="0" y="20591"/>
                  </a:lnTo>
                  <a:cubicBezTo>
                    <a:pt x="0" y="9219"/>
                    <a:pt x="9219" y="0"/>
                    <a:pt x="20591" y="0"/>
                  </a:cubicBezTo>
                  <a:close/>
                </a:path>
              </a:pathLst>
            </a:custGeom>
            <a:solidFill>
              <a:srgbClr val="AFAF9E"/>
            </a:solidFill>
          </p:spPr>
        </p:sp>
        <p:sp>
          <p:nvSpPr>
            <p:cNvPr id="13" name="TextBox 13"/>
            <p:cNvSpPr txBox="1"/>
            <p:nvPr/>
          </p:nvSpPr>
          <p:spPr>
            <a:xfrm>
              <a:off x="0" y="-38100"/>
              <a:ext cx="2376586" cy="259439"/>
            </a:xfrm>
            <a:prstGeom prst="rect">
              <a:avLst/>
            </a:prstGeom>
          </p:spPr>
          <p:txBody>
            <a:bodyPr lIns="50800" tIns="50800" rIns="50800" bIns="50800" rtlCol="0" anchor="ctr"/>
            <a:lstStyle/>
            <a:p>
              <a:pPr algn="ctr">
                <a:lnSpc>
                  <a:spcPts val="3499"/>
                </a:lnSpc>
                <a:spcBef>
                  <a:spcPct val="0"/>
                </a:spcBef>
              </a:pPr>
              <a:r>
                <a:rPr lang="en-US" sz="2499" b="1">
                  <a:solidFill>
                    <a:srgbClr val="000000"/>
                  </a:solidFill>
                  <a:latin typeface="Comic Sans Bold"/>
                  <a:ea typeface="Comic Sans Bold"/>
                  <a:cs typeface="Comic Sans Bold"/>
                  <a:sym typeface="Comic Sans Bold"/>
                </a:rPr>
                <a:t>3.Dynamic Blending (Exploitation) &amp; Escape (Exploration)</a:t>
              </a:r>
            </a:p>
          </p:txBody>
        </p:sp>
      </p:grpSp>
      <p:sp>
        <p:nvSpPr>
          <p:cNvPr id="14" name="AutoShape 14"/>
          <p:cNvSpPr/>
          <p:nvPr/>
        </p:nvSpPr>
        <p:spPr>
          <a:xfrm>
            <a:off x="9086628" y="8104648"/>
            <a:ext cx="0" cy="953441"/>
          </a:xfrm>
          <a:prstGeom prst="line">
            <a:avLst/>
          </a:prstGeom>
          <a:ln w="38100" cap="flat">
            <a:solidFill>
              <a:srgbClr val="000000"/>
            </a:solidFill>
            <a:prstDash val="solid"/>
            <a:headEnd type="none" w="sm" len="sm"/>
            <a:tailEnd type="arrow" w="med" len="sm"/>
          </a:ln>
        </p:spPr>
      </p:sp>
      <p:grpSp>
        <p:nvGrpSpPr>
          <p:cNvPr id="15" name="Group 15"/>
          <p:cNvGrpSpPr/>
          <p:nvPr/>
        </p:nvGrpSpPr>
        <p:grpSpPr>
          <a:xfrm>
            <a:off x="777430" y="6338272"/>
            <a:ext cx="4353170" cy="1458615"/>
            <a:chOff x="0" y="0"/>
            <a:chExt cx="1146514" cy="384162"/>
          </a:xfrm>
        </p:grpSpPr>
        <p:sp>
          <p:nvSpPr>
            <p:cNvPr id="16" name="Freeform 16"/>
            <p:cNvSpPr/>
            <p:nvPr/>
          </p:nvSpPr>
          <p:spPr>
            <a:xfrm>
              <a:off x="0" y="0"/>
              <a:ext cx="1146514" cy="384162"/>
            </a:xfrm>
            <a:custGeom>
              <a:avLst/>
              <a:gdLst/>
              <a:ahLst/>
              <a:cxnLst/>
              <a:rect l="l" t="t" r="r" b="b"/>
              <a:pathLst>
                <a:path w="1146514" h="384162">
                  <a:moveTo>
                    <a:pt x="42683" y="0"/>
                  </a:moveTo>
                  <a:lnTo>
                    <a:pt x="1103831" y="0"/>
                  </a:lnTo>
                  <a:cubicBezTo>
                    <a:pt x="1115151" y="0"/>
                    <a:pt x="1126008" y="4497"/>
                    <a:pt x="1134012" y="12502"/>
                  </a:cubicBezTo>
                  <a:cubicBezTo>
                    <a:pt x="1142017" y="20506"/>
                    <a:pt x="1146514" y="31363"/>
                    <a:pt x="1146514" y="42683"/>
                  </a:cubicBezTo>
                  <a:lnTo>
                    <a:pt x="1146514" y="341479"/>
                  </a:lnTo>
                  <a:cubicBezTo>
                    <a:pt x="1146514" y="352799"/>
                    <a:pt x="1142017" y="363656"/>
                    <a:pt x="1134012" y="371660"/>
                  </a:cubicBezTo>
                  <a:cubicBezTo>
                    <a:pt x="1126008" y="379665"/>
                    <a:pt x="1115151" y="384162"/>
                    <a:pt x="1103831" y="384162"/>
                  </a:cubicBezTo>
                  <a:lnTo>
                    <a:pt x="42683" y="384162"/>
                  </a:lnTo>
                  <a:cubicBezTo>
                    <a:pt x="31363" y="384162"/>
                    <a:pt x="20506" y="379665"/>
                    <a:pt x="12502" y="371660"/>
                  </a:cubicBezTo>
                  <a:cubicBezTo>
                    <a:pt x="4497" y="363656"/>
                    <a:pt x="0" y="352799"/>
                    <a:pt x="0" y="341479"/>
                  </a:cubicBezTo>
                  <a:lnTo>
                    <a:pt x="0" y="42683"/>
                  </a:lnTo>
                  <a:cubicBezTo>
                    <a:pt x="0" y="31363"/>
                    <a:pt x="4497" y="20506"/>
                    <a:pt x="12502" y="12502"/>
                  </a:cubicBezTo>
                  <a:cubicBezTo>
                    <a:pt x="20506" y="4497"/>
                    <a:pt x="31363" y="0"/>
                    <a:pt x="42683" y="0"/>
                  </a:cubicBezTo>
                  <a:close/>
                </a:path>
              </a:pathLst>
            </a:custGeom>
            <a:solidFill>
              <a:srgbClr val="AFAF9E"/>
            </a:solidFill>
          </p:spPr>
        </p:sp>
        <p:sp>
          <p:nvSpPr>
            <p:cNvPr id="17" name="TextBox 17"/>
            <p:cNvSpPr txBox="1"/>
            <p:nvPr/>
          </p:nvSpPr>
          <p:spPr>
            <a:xfrm>
              <a:off x="0" y="-38100"/>
              <a:ext cx="1146514" cy="422262"/>
            </a:xfrm>
            <a:prstGeom prst="rect">
              <a:avLst/>
            </a:prstGeom>
          </p:spPr>
          <p:txBody>
            <a:bodyPr lIns="50800" tIns="50800" rIns="50800" bIns="50800" rtlCol="0" anchor="ctr"/>
            <a:lstStyle/>
            <a:p>
              <a:pPr algn="ctr">
                <a:lnSpc>
                  <a:spcPts val="3499"/>
                </a:lnSpc>
                <a:spcBef>
                  <a:spcPct val="0"/>
                </a:spcBef>
              </a:pPr>
              <a:r>
                <a:rPr lang="en-US" sz="2499" b="1">
                  <a:solidFill>
                    <a:srgbClr val="000000"/>
                  </a:solidFill>
                  <a:latin typeface="Comic Sans Bold"/>
                  <a:ea typeface="Comic Sans Bold"/>
                  <a:cs typeface="Comic Sans Bold"/>
                  <a:sym typeface="Comic Sans Bold"/>
                </a:rPr>
                <a:t>4.Predator Prey Co-Evolution For local Refinement</a:t>
              </a:r>
            </a:p>
          </p:txBody>
        </p:sp>
      </p:grpSp>
      <p:sp>
        <p:nvSpPr>
          <p:cNvPr id="18" name="AutoShape 18"/>
          <p:cNvSpPr/>
          <p:nvPr/>
        </p:nvSpPr>
        <p:spPr>
          <a:xfrm flipH="1">
            <a:off x="5130600" y="6671803"/>
            <a:ext cx="1764631" cy="395777"/>
          </a:xfrm>
          <a:prstGeom prst="line">
            <a:avLst/>
          </a:prstGeom>
          <a:ln w="38100" cap="flat">
            <a:solidFill>
              <a:srgbClr val="000000"/>
            </a:solidFill>
            <a:prstDash val="solid"/>
            <a:headEnd type="none" w="sm" len="sm"/>
            <a:tailEnd type="arrow" w="med" len="sm"/>
          </a:ln>
        </p:spPr>
      </p:sp>
      <p:grpSp>
        <p:nvGrpSpPr>
          <p:cNvPr id="19" name="Group 19"/>
          <p:cNvGrpSpPr/>
          <p:nvPr/>
        </p:nvGrpSpPr>
        <p:grpSpPr>
          <a:xfrm>
            <a:off x="550727" y="3149428"/>
            <a:ext cx="5016330" cy="1644135"/>
            <a:chOff x="0" y="0"/>
            <a:chExt cx="1321173" cy="433023"/>
          </a:xfrm>
        </p:grpSpPr>
        <p:sp>
          <p:nvSpPr>
            <p:cNvPr id="20" name="Freeform 20"/>
            <p:cNvSpPr/>
            <p:nvPr/>
          </p:nvSpPr>
          <p:spPr>
            <a:xfrm>
              <a:off x="0" y="0"/>
              <a:ext cx="1321173" cy="433023"/>
            </a:xfrm>
            <a:custGeom>
              <a:avLst/>
              <a:gdLst/>
              <a:ahLst/>
              <a:cxnLst/>
              <a:rect l="l" t="t" r="r" b="b"/>
              <a:pathLst>
                <a:path w="1321173" h="433023">
                  <a:moveTo>
                    <a:pt x="37040" y="0"/>
                  </a:moveTo>
                  <a:lnTo>
                    <a:pt x="1284133" y="0"/>
                  </a:lnTo>
                  <a:cubicBezTo>
                    <a:pt x="1293957" y="0"/>
                    <a:pt x="1303378" y="3902"/>
                    <a:pt x="1310325" y="10849"/>
                  </a:cubicBezTo>
                  <a:cubicBezTo>
                    <a:pt x="1317271" y="17795"/>
                    <a:pt x="1321173" y="27217"/>
                    <a:pt x="1321173" y="37040"/>
                  </a:cubicBezTo>
                  <a:lnTo>
                    <a:pt x="1321173" y="395983"/>
                  </a:lnTo>
                  <a:cubicBezTo>
                    <a:pt x="1321173" y="416440"/>
                    <a:pt x="1304590" y="433023"/>
                    <a:pt x="1284133" y="433023"/>
                  </a:cubicBezTo>
                  <a:lnTo>
                    <a:pt x="37040" y="433023"/>
                  </a:lnTo>
                  <a:cubicBezTo>
                    <a:pt x="16583" y="433023"/>
                    <a:pt x="0" y="416440"/>
                    <a:pt x="0" y="395983"/>
                  </a:cubicBezTo>
                  <a:lnTo>
                    <a:pt x="0" y="37040"/>
                  </a:lnTo>
                  <a:cubicBezTo>
                    <a:pt x="0" y="16583"/>
                    <a:pt x="16583" y="0"/>
                    <a:pt x="37040" y="0"/>
                  </a:cubicBezTo>
                  <a:close/>
                </a:path>
              </a:pathLst>
            </a:custGeom>
            <a:solidFill>
              <a:srgbClr val="AFAF9E"/>
            </a:solidFill>
          </p:spPr>
        </p:sp>
        <p:sp>
          <p:nvSpPr>
            <p:cNvPr id="21" name="TextBox 21"/>
            <p:cNvSpPr txBox="1"/>
            <p:nvPr/>
          </p:nvSpPr>
          <p:spPr>
            <a:xfrm>
              <a:off x="0" y="-38100"/>
              <a:ext cx="1321173" cy="471123"/>
            </a:xfrm>
            <a:prstGeom prst="rect">
              <a:avLst/>
            </a:prstGeom>
          </p:spPr>
          <p:txBody>
            <a:bodyPr lIns="50800" tIns="50800" rIns="50800" bIns="50800" rtlCol="0" anchor="ctr"/>
            <a:lstStyle/>
            <a:p>
              <a:pPr algn="ctr">
                <a:lnSpc>
                  <a:spcPts val="3499"/>
                </a:lnSpc>
              </a:pPr>
              <a:r>
                <a:rPr lang="en-US" sz="2499" b="1">
                  <a:solidFill>
                    <a:srgbClr val="000000"/>
                  </a:solidFill>
                  <a:latin typeface="Comic Sans Bold"/>
                  <a:ea typeface="Comic Sans Bold"/>
                  <a:cs typeface="Comic Sans Bold"/>
                  <a:sym typeface="Comic Sans Bold"/>
                </a:rPr>
                <a:t>5.Environmental</a:t>
              </a:r>
            </a:p>
            <a:p>
              <a:pPr algn="ctr">
                <a:lnSpc>
                  <a:spcPts val="3499"/>
                </a:lnSpc>
              </a:pPr>
              <a:r>
                <a:rPr lang="en-US" sz="2499" b="1">
                  <a:solidFill>
                    <a:srgbClr val="000000"/>
                  </a:solidFill>
                  <a:latin typeface="Comic Sans Bold"/>
                  <a:ea typeface="Comic Sans Bold"/>
                  <a:cs typeface="Comic Sans Bold"/>
                  <a:sym typeface="Comic Sans Bold"/>
                </a:rPr>
                <a:t>Adaptation Mechanism (EAM)</a:t>
              </a:r>
            </a:p>
            <a:p>
              <a:pPr algn="ctr">
                <a:lnSpc>
                  <a:spcPts val="3499"/>
                </a:lnSpc>
                <a:spcBef>
                  <a:spcPct val="0"/>
                </a:spcBef>
              </a:pPr>
              <a:r>
                <a:rPr lang="en-US" sz="2499" b="1">
                  <a:solidFill>
                    <a:srgbClr val="000000"/>
                  </a:solidFill>
                  <a:latin typeface="Comic Sans Bold"/>
                  <a:ea typeface="Comic Sans Bold"/>
                  <a:cs typeface="Comic Sans Bold"/>
                  <a:sym typeface="Comic Sans Bold"/>
                </a:rPr>
                <a:t>for dynamic landscapes.</a:t>
              </a:r>
            </a:p>
          </p:txBody>
        </p:sp>
      </p:grpSp>
      <p:sp>
        <p:nvSpPr>
          <p:cNvPr id="22" name="AutoShape 22"/>
          <p:cNvSpPr/>
          <p:nvPr/>
        </p:nvSpPr>
        <p:spPr>
          <a:xfrm flipH="1" flipV="1">
            <a:off x="5569290" y="3990417"/>
            <a:ext cx="1921984" cy="64704"/>
          </a:xfrm>
          <a:prstGeom prst="line">
            <a:avLst/>
          </a:prstGeom>
          <a:ln w="38100" cap="flat">
            <a:solidFill>
              <a:srgbClr val="000000"/>
            </a:solidFill>
            <a:prstDash val="solid"/>
            <a:headEnd type="none" w="sm" len="sm"/>
            <a:tailEnd type="arrow" w="med" len="sm"/>
          </a:ln>
        </p:spPr>
      </p:sp>
      <p:sp>
        <p:nvSpPr>
          <p:cNvPr id="23" name="TextBox 23"/>
          <p:cNvSpPr txBox="1"/>
          <p:nvPr/>
        </p:nvSpPr>
        <p:spPr>
          <a:xfrm>
            <a:off x="550727" y="714375"/>
            <a:ext cx="15526684" cy="615950"/>
          </a:xfrm>
          <a:prstGeom prst="rect">
            <a:avLst/>
          </a:prstGeom>
        </p:spPr>
        <p:txBody>
          <a:bodyPr lIns="0" tIns="0" rIns="0" bIns="0" rtlCol="0" anchor="t">
            <a:spAutoFit/>
          </a:bodyPr>
          <a:lstStyle/>
          <a:p>
            <a:pPr algn="just">
              <a:lnSpc>
                <a:spcPts val="4900"/>
              </a:lnSpc>
            </a:pPr>
            <a:r>
              <a:rPr lang="en-US" sz="3500" b="1">
                <a:solidFill>
                  <a:srgbClr val="000000"/>
                </a:solidFill>
                <a:latin typeface="Cambria Bold"/>
                <a:ea typeface="Cambria Bold"/>
                <a:cs typeface="Cambria Bold"/>
                <a:sym typeface="Cambria Bold"/>
              </a:rPr>
              <a:t>The Camouflage Optimization Algorithm (COA): An Adaptive Toolkit</a:t>
            </a:r>
          </a:p>
        </p:txBody>
      </p:sp>
      <p:sp>
        <p:nvSpPr>
          <p:cNvPr id="24" name="TextBox 24"/>
          <p:cNvSpPr txBox="1"/>
          <p:nvPr/>
        </p:nvSpPr>
        <p:spPr>
          <a:xfrm>
            <a:off x="550727" y="1561840"/>
            <a:ext cx="16908271" cy="782320"/>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COA translates the biological principles of camouflage into a computational framework. Candidate solutions adjust their search behavior based on the "</a:t>
            </a:r>
            <a:r>
              <a:rPr lang="en-US" sz="2200" b="1" u="none" strike="noStrike">
                <a:solidFill>
                  <a:srgbClr val="000000"/>
                </a:solidFill>
                <a:latin typeface="Cambria Bold"/>
                <a:ea typeface="Cambria Bold"/>
                <a:cs typeface="Cambria Bold"/>
                <a:sym typeface="Cambria Bold"/>
              </a:rPr>
              <a:t>environment</a:t>
            </a:r>
            <a:r>
              <a:rPr lang="en-US" sz="2200" u="none" strike="noStrike">
                <a:solidFill>
                  <a:srgbClr val="000000"/>
                </a:solidFill>
                <a:latin typeface="Cambria"/>
                <a:ea typeface="Cambria"/>
                <a:cs typeface="Cambria"/>
                <a:sym typeface="Cambria"/>
              </a:rPr>
              <a:t>" of the optimization landscape, allowing them to blend with favorable regions and avoid poor ones.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23916" y="3155764"/>
            <a:ext cx="4954853" cy="2621703"/>
          </a:xfrm>
          <a:custGeom>
            <a:avLst/>
            <a:gdLst/>
            <a:ahLst/>
            <a:cxnLst/>
            <a:rect l="l" t="t" r="r" b="b"/>
            <a:pathLst>
              <a:path w="4954853" h="2621703">
                <a:moveTo>
                  <a:pt x="0" y="0"/>
                </a:moveTo>
                <a:lnTo>
                  <a:pt x="4954853" y="0"/>
                </a:lnTo>
                <a:lnTo>
                  <a:pt x="4954853" y="2621703"/>
                </a:lnTo>
                <a:lnTo>
                  <a:pt x="0" y="2621703"/>
                </a:lnTo>
                <a:lnTo>
                  <a:pt x="0" y="0"/>
                </a:lnTo>
                <a:close/>
              </a:path>
            </a:pathLst>
          </a:custGeom>
          <a:blipFill>
            <a:blip r:embed="rId2"/>
            <a:stretch>
              <a:fillRect/>
            </a:stretch>
          </a:blipFill>
        </p:spPr>
      </p:sp>
      <p:sp>
        <p:nvSpPr>
          <p:cNvPr id="3" name="Freeform 3"/>
          <p:cNvSpPr/>
          <p:nvPr/>
        </p:nvSpPr>
        <p:spPr>
          <a:xfrm>
            <a:off x="12508379" y="7563156"/>
            <a:ext cx="4954853" cy="1758750"/>
          </a:xfrm>
          <a:custGeom>
            <a:avLst/>
            <a:gdLst/>
            <a:ahLst/>
            <a:cxnLst/>
            <a:rect l="l" t="t" r="r" b="b"/>
            <a:pathLst>
              <a:path w="4954853" h="1758750">
                <a:moveTo>
                  <a:pt x="0" y="0"/>
                </a:moveTo>
                <a:lnTo>
                  <a:pt x="4954853" y="0"/>
                </a:lnTo>
                <a:lnTo>
                  <a:pt x="4954853" y="1758750"/>
                </a:lnTo>
                <a:lnTo>
                  <a:pt x="0" y="1758750"/>
                </a:lnTo>
                <a:lnTo>
                  <a:pt x="0" y="0"/>
                </a:lnTo>
                <a:close/>
              </a:path>
            </a:pathLst>
          </a:custGeom>
          <a:blipFill>
            <a:blip r:embed="rId3"/>
            <a:stretch>
              <a:fillRect/>
            </a:stretch>
          </a:blipFill>
        </p:spPr>
      </p:sp>
      <p:sp>
        <p:nvSpPr>
          <p:cNvPr id="4" name="TextBox 4"/>
          <p:cNvSpPr txBox="1"/>
          <p:nvPr/>
        </p:nvSpPr>
        <p:spPr>
          <a:xfrm>
            <a:off x="824768" y="1689602"/>
            <a:ext cx="6032101" cy="615875"/>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Cambria Bold"/>
                <a:ea typeface="Cambria Bold"/>
                <a:cs typeface="Cambria Bold"/>
                <a:sym typeface="Cambria Bold"/>
              </a:rPr>
              <a:t>Initialization using LHS</a:t>
            </a:r>
          </a:p>
        </p:txBody>
      </p:sp>
      <p:sp>
        <p:nvSpPr>
          <p:cNvPr id="5" name="TextBox 5"/>
          <p:cNvSpPr txBox="1"/>
          <p:nvPr/>
        </p:nvSpPr>
        <p:spPr>
          <a:xfrm>
            <a:off x="824768" y="2591301"/>
            <a:ext cx="16638464" cy="782320"/>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The algorithm starts by spreading a population of possible solutions across the entire search space. It uses </a:t>
            </a:r>
            <a:r>
              <a:rPr lang="en-US" sz="2200" b="1" u="none" strike="noStrike">
                <a:solidFill>
                  <a:srgbClr val="000000"/>
                </a:solidFill>
                <a:latin typeface="Cambria Bold"/>
                <a:ea typeface="Cambria Bold"/>
                <a:cs typeface="Cambria Bold"/>
                <a:sym typeface="Cambria Bold"/>
              </a:rPr>
              <a:t>Latin Hypercube Sampling (LHS)</a:t>
            </a:r>
            <a:r>
              <a:rPr lang="en-US" sz="2200" u="none" strike="noStrike">
                <a:solidFill>
                  <a:srgbClr val="000000"/>
                </a:solidFill>
                <a:latin typeface="Cambria"/>
                <a:ea typeface="Cambria"/>
                <a:cs typeface="Cambria"/>
                <a:sym typeface="Cambria"/>
              </a:rPr>
              <a:t> to ensure every part of the area is covered evenly from the very beginning.</a:t>
            </a:r>
          </a:p>
        </p:txBody>
      </p:sp>
      <p:sp>
        <p:nvSpPr>
          <p:cNvPr id="6" name="TextBox 6"/>
          <p:cNvSpPr txBox="1"/>
          <p:nvPr/>
        </p:nvSpPr>
        <p:spPr>
          <a:xfrm>
            <a:off x="824768" y="3851729"/>
            <a:ext cx="11253905" cy="1172845"/>
          </a:xfrm>
          <a:prstGeom prst="rect">
            <a:avLst/>
          </a:prstGeom>
        </p:spPr>
        <p:txBody>
          <a:bodyPr lIns="0" tIns="0" rIns="0" bIns="0" rtlCol="0" anchor="t">
            <a:spAutoFit/>
          </a:bodyPr>
          <a:lstStyle/>
          <a:p>
            <a:pPr marL="474981" lvl="1" indent="-237491" algn="l">
              <a:lnSpc>
                <a:spcPts val="3080"/>
              </a:lnSpc>
              <a:buFont typeface="Arial"/>
              <a:buChar char="•"/>
            </a:pPr>
            <a:r>
              <a:rPr lang="en-US" sz="2200" u="none" strike="noStrike">
                <a:solidFill>
                  <a:srgbClr val="000000"/>
                </a:solidFill>
                <a:latin typeface="Cambria"/>
                <a:ea typeface="Cambria"/>
                <a:cs typeface="Cambria"/>
                <a:sym typeface="Cambria"/>
              </a:rPr>
              <a:t>Imagine people are looking for a hidden treasure in a giant park. Instead of everyone standing in one corner, LHS makes sure all team stands in a </a:t>
            </a:r>
            <a:r>
              <a:rPr lang="en-US" sz="2200" b="1" u="none" strike="noStrike">
                <a:solidFill>
                  <a:srgbClr val="000000"/>
                </a:solidFill>
                <a:latin typeface="Cambria Bold"/>
                <a:ea typeface="Cambria Bold"/>
                <a:cs typeface="Cambria Bold"/>
                <a:sym typeface="Cambria Bold"/>
              </a:rPr>
              <a:t>perfect grid</a:t>
            </a:r>
            <a:r>
              <a:rPr lang="en-US" sz="2200" u="none" strike="noStrike">
                <a:solidFill>
                  <a:srgbClr val="000000"/>
                </a:solidFill>
                <a:latin typeface="Cambria"/>
                <a:ea typeface="Cambria"/>
                <a:cs typeface="Cambria"/>
                <a:sym typeface="Cambria"/>
              </a:rPr>
              <a:t> so that no section of the park is left unsearched.</a:t>
            </a:r>
          </a:p>
        </p:txBody>
      </p:sp>
      <p:sp>
        <p:nvSpPr>
          <p:cNvPr id="7" name="TextBox 7"/>
          <p:cNvSpPr txBox="1"/>
          <p:nvPr/>
        </p:nvSpPr>
        <p:spPr>
          <a:xfrm>
            <a:off x="13302260" y="5819056"/>
            <a:ext cx="1026795" cy="585470"/>
          </a:xfrm>
          <a:prstGeom prst="rect">
            <a:avLst/>
          </a:prstGeom>
        </p:spPr>
        <p:txBody>
          <a:bodyPr lIns="0" tIns="0" rIns="0" bIns="0" rtlCol="0" anchor="t">
            <a:spAutoFit/>
          </a:bodyPr>
          <a:lstStyle/>
          <a:p>
            <a:pPr algn="ctr">
              <a:lnSpc>
                <a:spcPts val="2380"/>
              </a:lnSpc>
            </a:pPr>
            <a:r>
              <a:rPr lang="en-US" sz="1700" b="1">
                <a:solidFill>
                  <a:srgbClr val="000000"/>
                </a:solidFill>
                <a:latin typeface="Cambria Bold"/>
                <a:ea typeface="Cambria Bold"/>
                <a:cs typeface="Cambria Bold"/>
                <a:sym typeface="Cambria Bold"/>
              </a:rPr>
              <a:t>Random</a:t>
            </a:r>
          </a:p>
          <a:p>
            <a:pPr algn="ctr">
              <a:lnSpc>
                <a:spcPts val="2380"/>
              </a:lnSpc>
            </a:pPr>
            <a:r>
              <a:rPr lang="en-US" sz="1700" b="1">
                <a:solidFill>
                  <a:srgbClr val="000000"/>
                </a:solidFill>
                <a:latin typeface="Cambria Bold"/>
                <a:ea typeface="Cambria Bold"/>
                <a:cs typeface="Cambria Bold"/>
                <a:sym typeface="Cambria Bold"/>
              </a:rPr>
              <a:t> Sampling.</a:t>
            </a:r>
          </a:p>
        </p:txBody>
      </p:sp>
      <p:sp>
        <p:nvSpPr>
          <p:cNvPr id="8" name="TextBox 8"/>
          <p:cNvSpPr txBox="1"/>
          <p:nvPr/>
        </p:nvSpPr>
        <p:spPr>
          <a:xfrm>
            <a:off x="15490535" y="5827666"/>
            <a:ext cx="1641634" cy="585470"/>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latin typeface="Cambria Bold"/>
                <a:ea typeface="Cambria Bold"/>
                <a:cs typeface="Cambria Bold"/>
                <a:sym typeface="Cambria Bold"/>
              </a:rPr>
              <a:t>Latin Hypercube</a:t>
            </a:r>
          </a:p>
          <a:p>
            <a:pPr algn="ctr">
              <a:lnSpc>
                <a:spcPts val="2380"/>
              </a:lnSpc>
              <a:spcBef>
                <a:spcPct val="0"/>
              </a:spcBef>
            </a:pPr>
            <a:r>
              <a:rPr lang="en-US" sz="1700" b="1">
                <a:solidFill>
                  <a:srgbClr val="000000"/>
                </a:solidFill>
                <a:latin typeface="Cambria Bold"/>
                <a:ea typeface="Cambria Bold"/>
                <a:cs typeface="Cambria Bold"/>
                <a:sym typeface="Cambria Bold"/>
              </a:rPr>
              <a:t>Sampling.</a:t>
            </a:r>
          </a:p>
        </p:txBody>
      </p:sp>
      <p:sp>
        <p:nvSpPr>
          <p:cNvPr id="9" name="TextBox 9"/>
          <p:cNvSpPr txBox="1"/>
          <p:nvPr/>
        </p:nvSpPr>
        <p:spPr>
          <a:xfrm>
            <a:off x="824768" y="6148061"/>
            <a:ext cx="9499134" cy="615875"/>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Cambria Bold"/>
                <a:ea typeface="Cambria Bold"/>
                <a:cs typeface="Cambria Bold"/>
                <a:sym typeface="Cambria Bold"/>
              </a:rPr>
              <a:t>Camouflage Density Function &amp; Escape Risk</a:t>
            </a:r>
          </a:p>
        </p:txBody>
      </p:sp>
      <p:sp>
        <p:nvSpPr>
          <p:cNvPr id="10" name="TextBox 10"/>
          <p:cNvSpPr txBox="1"/>
          <p:nvPr/>
        </p:nvSpPr>
        <p:spPr>
          <a:xfrm>
            <a:off x="824768" y="6964035"/>
            <a:ext cx="16638464" cy="782320"/>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The algorithm calculates a </a:t>
            </a:r>
            <a:r>
              <a:rPr lang="en-US" sz="2200" b="1" u="none" strike="noStrike">
                <a:solidFill>
                  <a:srgbClr val="000000"/>
                </a:solidFill>
                <a:latin typeface="Cambria Bold"/>
                <a:ea typeface="Cambria Bold"/>
                <a:cs typeface="Cambria Bold"/>
                <a:sym typeface="Cambria Bold"/>
              </a:rPr>
              <a:t>density score</a:t>
            </a:r>
            <a:r>
              <a:rPr lang="en-US" sz="2200" u="none" strike="noStrike">
                <a:solidFill>
                  <a:srgbClr val="000000"/>
                </a:solidFill>
                <a:latin typeface="Cambria"/>
                <a:ea typeface="Cambria"/>
                <a:cs typeface="Cambria"/>
                <a:sym typeface="Cambria"/>
              </a:rPr>
              <a:t> for each solution based on its distance to neighbors and its fitness. This determines the Escape Risk - how likely a solution is to be "</a:t>
            </a:r>
            <a:r>
              <a:rPr lang="en-US" sz="2200" b="1" u="none" strike="noStrike">
                <a:solidFill>
                  <a:srgbClr val="000000"/>
                </a:solidFill>
                <a:latin typeface="Cambria Bold"/>
                <a:ea typeface="Cambria Bold"/>
                <a:cs typeface="Cambria Bold"/>
                <a:sym typeface="Cambria Bold"/>
              </a:rPr>
              <a:t>seen</a:t>
            </a:r>
            <a:r>
              <a:rPr lang="en-US" sz="2200" u="none" strike="noStrike">
                <a:solidFill>
                  <a:srgbClr val="000000"/>
                </a:solidFill>
                <a:latin typeface="Cambria"/>
                <a:ea typeface="Cambria"/>
                <a:cs typeface="Cambria"/>
                <a:sym typeface="Cambria"/>
              </a:rPr>
              <a:t>" or </a:t>
            </a:r>
            <a:r>
              <a:rPr lang="en-US" sz="2200" b="1" u="none" strike="noStrike">
                <a:solidFill>
                  <a:srgbClr val="000000"/>
                </a:solidFill>
                <a:latin typeface="Cambria Bold"/>
                <a:ea typeface="Cambria Bold"/>
                <a:cs typeface="Cambria Bold"/>
                <a:sym typeface="Cambria Bold"/>
              </a:rPr>
              <a:t>stuck</a:t>
            </a:r>
            <a:r>
              <a:rPr lang="en-US" sz="2200" u="none" strike="noStrike">
                <a:solidFill>
                  <a:srgbClr val="000000"/>
                </a:solidFill>
                <a:latin typeface="Cambria"/>
                <a:ea typeface="Cambria"/>
                <a:cs typeface="Cambria"/>
                <a:sym typeface="Cambria"/>
              </a:rPr>
              <a:t> in a bad spot.</a:t>
            </a:r>
          </a:p>
        </p:txBody>
      </p:sp>
      <p:sp>
        <p:nvSpPr>
          <p:cNvPr id="11" name="TextBox 11"/>
          <p:cNvSpPr txBox="1"/>
          <p:nvPr/>
        </p:nvSpPr>
        <p:spPr>
          <a:xfrm>
            <a:off x="824768" y="8119688"/>
            <a:ext cx="11699148" cy="782171"/>
          </a:xfrm>
          <a:prstGeom prst="rect">
            <a:avLst/>
          </a:prstGeom>
        </p:spPr>
        <p:txBody>
          <a:bodyPr lIns="0" tIns="0" rIns="0" bIns="0" rtlCol="0" anchor="t">
            <a:spAutoFit/>
          </a:bodyPr>
          <a:lstStyle/>
          <a:p>
            <a:pPr marL="474981" lvl="1" indent="-237491" algn="l">
              <a:lnSpc>
                <a:spcPts val="3080"/>
              </a:lnSpc>
              <a:buFont typeface="Arial"/>
              <a:buChar char="•"/>
            </a:pPr>
            <a:r>
              <a:rPr lang="en-US" sz="2200" u="none" strike="noStrike">
                <a:solidFill>
                  <a:srgbClr val="000000"/>
                </a:solidFill>
                <a:latin typeface="Cambria"/>
                <a:ea typeface="Cambria"/>
                <a:cs typeface="Cambria"/>
                <a:sym typeface="Cambria"/>
              </a:rPr>
              <a:t> If the person is "blending in" well (high density), he stay put. If he is "standing out" too much or in a dangerous spot, the risk goes up, and he know it is time to move.</a:t>
            </a:r>
          </a:p>
        </p:txBody>
      </p:sp>
      <p:sp>
        <p:nvSpPr>
          <p:cNvPr id="12" name="TextBox 12"/>
          <p:cNvSpPr txBox="1"/>
          <p:nvPr/>
        </p:nvSpPr>
        <p:spPr>
          <a:xfrm>
            <a:off x="13084624" y="9485431"/>
            <a:ext cx="1430994" cy="290195"/>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latin typeface="Cambria Bold"/>
                <a:ea typeface="Cambria Bold"/>
                <a:cs typeface="Cambria Bold"/>
                <a:sym typeface="Cambria Bold"/>
              </a:rPr>
              <a:t>High Density</a:t>
            </a:r>
          </a:p>
        </p:txBody>
      </p:sp>
      <p:sp>
        <p:nvSpPr>
          <p:cNvPr id="13" name="TextBox 13"/>
          <p:cNvSpPr txBox="1"/>
          <p:nvPr/>
        </p:nvSpPr>
        <p:spPr>
          <a:xfrm>
            <a:off x="15580319" y="9485431"/>
            <a:ext cx="1430994" cy="290195"/>
          </a:xfrm>
          <a:prstGeom prst="rect">
            <a:avLst/>
          </a:prstGeom>
        </p:spPr>
        <p:txBody>
          <a:bodyPr lIns="0" tIns="0" rIns="0" bIns="0" rtlCol="0" anchor="t">
            <a:spAutoFit/>
          </a:bodyPr>
          <a:lstStyle/>
          <a:p>
            <a:pPr algn="ctr">
              <a:lnSpc>
                <a:spcPts val="2380"/>
              </a:lnSpc>
              <a:spcBef>
                <a:spcPct val="0"/>
              </a:spcBef>
            </a:pPr>
            <a:r>
              <a:rPr lang="en-US" sz="1700" b="1">
                <a:solidFill>
                  <a:srgbClr val="000000"/>
                </a:solidFill>
                <a:latin typeface="Cambria Bold"/>
                <a:ea typeface="Cambria Bold"/>
                <a:cs typeface="Cambria Bold"/>
                <a:sym typeface="Cambria Bold"/>
              </a:rPr>
              <a:t>Low Density</a:t>
            </a:r>
          </a:p>
        </p:txBody>
      </p:sp>
      <p:sp>
        <p:nvSpPr>
          <p:cNvPr id="14" name="TextBox 14"/>
          <p:cNvSpPr txBox="1"/>
          <p:nvPr/>
        </p:nvSpPr>
        <p:spPr>
          <a:xfrm>
            <a:off x="5664605" y="412323"/>
            <a:ext cx="6958789" cy="1038225"/>
          </a:xfrm>
          <a:prstGeom prst="rect">
            <a:avLst/>
          </a:prstGeom>
        </p:spPr>
        <p:txBody>
          <a:bodyPr lIns="0" tIns="0" rIns="0" bIns="0" rtlCol="0" anchor="t">
            <a:spAutoFit/>
          </a:bodyPr>
          <a:lstStyle/>
          <a:p>
            <a:pPr algn="ctr">
              <a:lnSpc>
                <a:spcPts val="8400"/>
              </a:lnSpc>
            </a:pPr>
            <a:r>
              <a:rPr lang="en-US" sz="6000" b="1" dirty="0">
                <a:solidFill>
                  <a:srgbClr val="000000"/>
                </a:solidFill>
                <a:latin typeface="Cambria Bold"/>
                <a:ea typeface="Cambria Bold"/>
                <a:cs typeface="Cambria Bold"/>
                <a:sym typeface="Cambria Bold"/>
              </a:rPr>
              <a:t>Methodology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937951" y="714084"/>
            <a:ext cx="7321349" cy="8858833"/>
          </a:xfrm>
          <a:custGeom>
            <a:avLst/>
            <a:gdLst/>
            <a:ahLst/>
            <a:cxnLst/>
            <a:rect l="l" t="t" r="r" b="b"/>
            <a:pathLst>
              <a:path w="7321349" h="8858833">
                <a:moveTo>
                  <a:pt x="0" y="0"/>
                </a:moveTo>
                <a:lnTo>
                  <a:pt x="7321349" y="0"/>
                </a:lnTo>
                <a:lnTo>
                  <a:pt x="7321349" y="8858832"/>
                </a:lnTo>
                <a:lnTo>
                  <a:pt x="0" y="88588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599212" y="1067267"/>
            <a:ext cx="7900151" cy="615949"/>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Cambria Bold"/>
                <a:ea typeface="Cambria Bold"/>
                <a:cs typeface="Cambria Bold"/>
                <a:sym typeface="Cambria Bold"/>
              </a:rPr>
              <a:t>Branching Search Strategy</a:t>
            </a:r>
          </a:p>
        </p:txBody>
      </p:sp>
      <p:sp>
        <p:nvSpPr>
          <p:cNvPr id="4" name="TextBox 4"/>
          <p:cNvSpPr txBox="1"/>
          <p:nvPr/>
        </p:nvSpPr>
        <p:spPr>
          <a:xfrm>
            <a:off x="599212" y="1892643"/>
            <a:ext cx="8046443" cy="391795"/>
          </a:xfrm>
          <a:prstGeom prst="rect">
            <a:avLst/>
          </a:prstGeom>
        </p:spPr>
        <p:txBody>
          <a:bodyPr lIns="0" tIns="0" rIns="0" bIns="0" rtlCol="0" anchor="t">
            <a:spAutoFit/>
          </a:bodyPr>
          <a:lstStyle/>
          <a:p>
            <a:pPr marL="0" lvl="0" indent="0" algn="just">
              <a:lnSpc>
                <a:spcPts val="3080"/>
              </a:lnSpc>
              <a:spcBef>
                <a:spcPct val="0"/>
              </a:spcBef>
            </a:pPr>
            <a:r>
              <a:rPr lang="en-US" sz="2200" u="none" strike="noStrike" dirty="0">
                <a:solidFill>
                  <a:srgbClr val="000000"/>
                </a:solidFill>
                <a:latin typeface="Cambria"/>
                <a:ea typeface="Cambria"/>
                <a:cs typeface="Cambria"/>
                <a:sym typeface="Cambria"/>
              </a:rPr>
              <a:t>Based on the risk level, the algorithm chooses one of two behaviors:</a:t>
            </a:r>
          </a:p>
        </p:txBody>
      </p:sp>
      <p:sp>
        <p:nvSpPr>
          <p:cNvPr id="5" name="TextBox 5"/>
          <p:cNvSpPr txBox="1"/>
          <p:nvPr/>
        </p:nvSpPr>
        <p:spPr>
          <a:xfrm>
            <a:off x="588219" y="2857500"/>
            <a:ext cx="9317781" cy="782319"/>
          </a:xfrm>
          <a:prstGeom prst="rect">
            <a:avLst/>
          </a:prstGeom>
        </p:spPr>
        <p:txBody>
          <a:bodyPr lIns="0" tIns="0" rIns="0" bIns="0" rtlCol="0" anchor="t">
            <a:spAutoFit/>
          </a:bodyPr>
          <a:lstStyle/>
          <a:p>
            <a:pPr marL="474984" lvl="1" indent="-237492" algn="just">
              <a:lnSpc>
                <a:spcPts val="3080"/>
              </a:lnSpc>
              <a:buFont typeface="Arial"/>
              <a:buChar char="•"/>
            </a:pPr>
            <a:r>
              <a:rPr lang="en-US" sz="2200" b="1" dirty="0">
                <a:solidFill>
                  <a:srgbClr val="000000"/>
                </a:solidFill>
                <a:latin typeface="Cambria Bold"/>
                <a:ea typeface="Cambria Bold"/>
                <a:cs typeface="Cambria Bold"/>
                <a:sym typeface="Cambria Bold"/>
              </a:rPr>
              <a:t>High Risk (Global Jump):</a:t>
            </a:r>
            <a:r>
              <a:rPr lang="en-US" sz="2200" dirty="0">
                <a:solidFill>
                  <a:srgbClr val="000000"/>
                </a:solidFill>
                <a:latin typeface="Cambria"/>
                <a:ea typeface="Cambria"/>
                <a:cs typeface="Cambria"/>
                <a:sym typeface="Cambria"/>
              </a:rPr>
              <a:t> The solution "jumps" to a completely new part of the map to escape a trap</a:t>
            </a:r>
          </a:p>
        </p:txBody>
      </p:sp>
      <p:sp>
        <p:nvSpPr>
          <p:cNvPr id="6" name="TextBox 6"/>
          <p:cNvSpPr txBox="1"/>
          <p:nvPr/>
        </p:nvSpPr>
        <p:spPr>
          <a:xfrm>
            <a:off x="589687" y="3619500"/>
            <a:ext cx="9348264" cy="782319"/>
          </a:xfrm>
          <a:prstGeom prst="rect">
            <a:avLst/>
          </a:prstGeom>
        </p:spPr>
        <p:txBody>
          <a:bodyPr lIns="0" tIns="0" rIns="0" bIns="0" rtlCol="0" anchor="t">
            <a:spAutoFit/>
          </a:bodyPr>
          <a:lstStyle/>
          <a:p>
            <a:pPr marL="474984" lvl="1" indent="-237492" algn="just">
              <a:lnSpc>
                <a:spcPts val="3080"/>
              </a:lnSpc>
              <a:buFont typeface="Arial"/>
              <a:buChar char="•"/>
            </a:pPr>
            <a:r>
              <a:rPr lang="en-US" sz="2200" b="1" dirty="0">
                <a:solidFill>
                  <a:srgbClr val="000000"/>
                </a:solidFill>
                <a:latin typeface="Cambria Bold"/>
                <a:ea typeface="Cambria Bold"/>
                <a:cs typeface="Cambria Bold"/>
                <a:sym typeface="Cambria Bold"/>
              </a:rPr>
              <a:t>Low Risk (Local Update):</a:t>
            </a:r>
            <a:r>
              <a:rPr lang="en-US" sz="2200" dirty="0">
                <a:solidFill>
                  <a:srgbClr val="000000"/>
                </a:solidFill>
                <a:latin typeface="Cambria"/>
                <a:ea typeface="Cambria"/>
                <a:cs typeface="Cambria"/>
                <a:sym typeface="Cambria"/>
              </a:rPr>
              <a:t> The solution stays in the area but makes small moves to "blend" into the best nearby spot.</a:t>
            </a:r>
          </a:p>
        </p:txBody>
      </p:sp>
      <p:sp>
        <p:nvSpPr>
          <p:cNvPr id="7" name="TextBox 7"/>
          <p:cNvSpPr txBox="1"/>
          <p:nvPr/>
        </p:nvSpPr>
        <p:spPr>
          <a:xfrm>
            <a:off x="620169" y="4427855"/>
            <a:ext cx="9317781" cy="1172845"/>
          </a:xfrm>
          <a:prstGeom prst="rect">
            <a:avLst/>
          </a:prstGeom>
        </p:spPr>
        <p:txBody>
          <a:bodyPr lIns="0" tIns="0" rIns="0" bIns="0" rtlCol="0" anchor="t">
            <a:spAutoFit/>
          </a:bodyPr>
          <a:lstStyle/>
          <a:p>
            <a:pPr marL="474981" lvl="1" indent="-237491" algn="l">
              <a:lnSpc>
                <a:spcPts val="3080"/>
              </a:lnSpc>
              <a:buFont typeface="Arial"/>
              <a:buChar char="•"/>
            </a:pPr>
            <a:r>
              <a:rPr lang="en-US" sz="2200" u="none" strike="noStrike" dirty="0">
                <a:solidFill>
                  <a:srgbClr val="000000"/>
                </a:solidFill>
                <a:latin typeface="Cambria"/>
                <a:ea typeface="Cambria"/>
                <a:cs typeface="Cambria"/>
                <a:sym typeface="Cambria"/>
              </a:rPr>
              <a:t>If a predator is about to catch the person, he sprint away to a new hiding spot (Global Jump). If he is safe then he just wiggle slightly to hide better (Local Update).</a:t>
            </a:r>
          </a:p>
        </p:txBody>
      </p:sp>
      <p:sp>
        <p:nvSpPr>
          <p:cNvPr id="8" name="TextBox 8"/>
          <p:cNvSpPr txBox="1"/>
          <p:nvPr/>
        </p:nvSpPr>
        <p:spPr>
          <a:xfrm>
            <a:off x="599212" y="5850798"/>
            <a:ext cx="6770146" cy="615949"/>
          </a:xfrm>
          <a:prstGeom prst="rect">
            <a:avLst/>
          </a:prstGeom>
        </p:spPr>
        <p:txBody>
          <a:bodyPr lIns="0" tIns="0" rIns="0" bIns="0" rtlCol="0" anchor="t">
            <a:spAutoFit/>
          </a:bodyPr>
          <a:lstStyle/>
          <a:p>
            <a:pPr algn="just">
              <a:lnSpc>
                <a:spcPts val="4900"/>
              </a:lnSpc>
              <a:spcBef>
                <a:spcPct val="0"/>
              </a:spcBef>
            </a:pPr>
            <a:r>
              <a:rPr lang="en-US" sz="3500" b="1" dirty="0">
                <a:solidFill>
                  <a:srgbClr val="000000"/>
                </a:solidFill>
                <a:latin typeface="Cambria Bold"/>
                <a:ea typeface="Cambria Bold"/>
                <a:cs typeface="Cambria Bold"/>
                <a:sym typeface="Cambria Bold"/>
              </a:rPr>
              <a:t>Predator-Prey Co-evolution</a:t>
            </a:r>
          </a:p>
        </p:txBody>
      </p:sp>
      <p:sp>
        <p:nvSpPr>
          <p:cNvPr id="9" name="TextBox 9"/>
          <p:cNvSpPr txBox="1"/>
          <p:nvPr/>
        </p:nvSpPr>
        <p:spPr>
          <a:xfrm>
            <a:off x="582820" y="6592683"/>
            <a:ext cx="8965728" cy="1172845"/>
          </a:xfrm>
          <a:prstGeom prst="rect">
            <a:avLst/>
          </a:prstGeom>
        </p:spPr>
        <p:txBody>
          <a:bodyPr lIns="0" tIns="0" rIns="0" bIns="0" rtlCol="0" anchor="t">
            <a:spAutoFit/>
          </a:bodyPr>
          <a:lstStyle/>
          <a:p>
            <a:pPr algn="l">
              <a:lnSpc>
                <a:spcPts val="3080"/>
              </a:lnSpc>
            </a:pPr>
            <a:r>
              <a:rPr lang="en-US" sz="2200" u="none" strike="noStrike">
                <a:solidFill>
                  <a:srgbClr val="000000"/>
                </a:solidFill>
                <a:latin typeface="Cambria"/>
                <a:ea typeface="Cambria"/>
                <a:cs typeface="Cambria"/>
                <a:sym typeface="Cambria"/>
              </a:rPr>
              <a:t>A small group of "predators" is added to chase the best solutions. This forces the solutions to keep improving their positions through a local search.</a:t>
            </a:r>
          </a:p>
        </p:txBody>
      </p:sp>
      <p:sp>
        <p:nvSpPr>
          <p:cNvPr id="10" name="TextBox 10"/>
          <p:cNvSpPr txBox="1"/>
          <p:nvPr/>
        </p:nvSpPr>
        <p:spPr>
          <a:xfrm>
            <a:off x="582820" y="7691232"/>
            <a:ext cx="8316444" cy="1172845"/>
          </a:xfrm>
          <a:prstGeom prst="rect">
            <a:avLst/>
          </a:prstGeom>
        </p:spPr>
        <p:txBody>
          <a:bodyPr lIns="0" tIns="0" rIns="0" bIns="0" rtlCol="0" anchor="t">
            <a:spAutoFit/>
          </a:bodyPr>
          <a:lstStyle/>
          <a:p>
            <a:pPr marL="474981" lvl="1" indent="-237491" algn="l">
              <a:lnSpc>
                <a:spcPts val="3080"/>
              </a:lnSpc>
              <a:spcBef>
                <a:spcPct val="0"/>
              </a:spcBef>
              <a:buFont typeface="Arial"/>
              <a:buChar char="•"/>
            </a:pPr>
            <a:r>
              <a:rPr lang="en-US" sz="2200" u="none" strike="noStrike">
                <a:solidFill>
                  <a:srgbClr val="000000"/>
                </a:solidFill>
                <a:latin typeface="Cambria"/>
                <a:ea typeface="Cambria"/>
                <a:cs typeface="Cambria"/>
                <a:sym typeface="Cambria"/>
              </a:rPr>
              <a:t>It is like a coach pushing an athlete to run faster. The "predator" (coach) makes sure the "prey" (athlete/solution) doesn't get lazy and keeps moving toward the finish 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82820" y="942975"/>
            <a:ext cx="10418589" cy="615949"/>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Cambria Bold"/>
                <a:ea typeface="Cambria Bold"/>
                <a:cs typeface="Cambria Bold"/>
                <a:sym typeface="Cambria Bold"/>
              </a:rPr>
              <a:t>Environmental Adaptation Mechanism (EAM)</a:t>
            </a:r>
          </a:p>
        </p:txBody>
      </p:sp>
      <p:sp>
        <p:nvSpPr>
          <p:cNvPr id="3" name="TextBox 3"/>
          <p:cNvSpPr txBox="1"/>
          <p:nvPr/>
        </p:nvSpPr>
        <p:spPr>
          <a:xfrm>
            <a:off x="582820" y="1767846"/>
            <a:ext cx="17122359" cy="782319"/>
          </a:xfrm>
          <a:prstGeom prst="rect">
            <a:avLst/>
          </a:prstGeom>
        </p:spPr>
        <p:txBody>
          <a:bodyPr lIns="0" tIns="0" rIns="0" bIns="0" rtlCol="0" anchor="t">
            <a:spAutoFit/>
          </a:bodyPr>
          <a:lstStyle/>
          <a:p>
            <a:pPr algn="just">
              <a:lnSpc>
                <a:spcPts val="3080"/>
              </a:lnSpc>
              <a:spcBef>
                <a:spcPct val="0"/>
              </a:spcBef>
            </a:pPr>
            <a:r>
              <a:rPr lang="en-US" sz="2200">
                <a:solidFill>
                  <a:srgbClr val="000000"/>
                </a:solidFill>
                <a:latin typeface="Cambria"/>
                <a:ea typeface="Cambria"/>
                <a:cs typeface="Cambria"/>
                <a:sym typeface="Cambria"/>
              </a:rPr>
              <a:t>The algorithm constantly monitors the </a:t>
            </a:r>
            <a:r>
              <a:rPr lang="en-US" sz="2200" b="1">
                <a:solidFill>
                  <a:srgbClr val="000000"/>
                </a:solidFill>
                <a:latin typeface="Cambria Bold"/>
                <a:ea typeface="Cambria Bold"/>
                <a:cs typeface="Cambria Bold"/>
                <a:sym typeface="Cambria Bold"/>
              </a:rPr>
              <a:t>environment</a:t>
            </a:r>
            <a:r>
              <a:rPr lang="en-US" sz="2200">
                <a:solidFill>
                  <a:srgbClr val="000000"/>
                </a:solidFill>
                <a:latin typeface="Cambria"/>
                <a:ea typeface="Cambria"/>
                <a:cs typeface="Cambria"/>
                <a:sym typeface="Cambria"/>
              </a:rPr>
              <a:t>. If it detects that the best possible answer has moved or changed, it resets parts of the population to adapt to the new landscape.</a:t>
            </a:r>
          </a:p>
        </p:txBody>
      </p:sp>
      <p:sp>
        <p:nvSpPr>
          <p:cNvPr id="4" name="TextBox 4"/>
          <p:cNvSpPr txBox="1"/>
          <p:nvPr/>
        </p:nvSpPr>
        <p:spPr>
          <a:xfrm>
            <a:off x="582820" y="3116285"/>
            <a:ext cx="8561180" cy="1172844"/>
          </a:xfrm>
          <a:prstGeom prst="rect">
            <a:avLst/>
          </a:prstGeom>
        </p:spPr>
        <p:txBody>
          <a:bodyPr lIns="0" tIns="0" rIns="0" bIns="0" rtlCol="0" anchor="t">
            <a:spAutoFit/>
          </a:bodyPr>
          <a:lstStyle/>
          <a:p>
            <a:pPr marL="474984" lvl="1" indent="-237492" algn="just">
              <a:lnSpc>
                <a:spcPts val="3080"/>
              </a:lnSpc>
              <a:buFont typeface="Arial"/>
              <a:buChar char="•"/>
            </a:pPr>
            <a:r>
              <a:rPr lang="en-US" sz="2200">
                <a:solidFill>
                  <a:srgbClr val="000000"/>
                </a:solidFill>
                <a:latin typeface="Cambria"/>
                <a:ea typeface="Cambria"/>
                <a:cs typeface="Cambria"/>
                <a:sym typeface="Cambria"/>
              </a:rPr>
              <a:t>If the park suddenly gets flooded or changed, the team doesn't keep using the old map. They look around, realize things are different, and change their strategy to fit the new ground.</a:t>
            </a:r>
          </a:p>
        </p:txBody>
      </p:sp>
      <p:sp>
        <p:nvSpPr>
          <p:cNvPr id="5" name="TextBox 5"/>
          <p:cNvSpPr txBox="1"/>
          <p:nvPr/>
        </p:nvSpPr>
        <p:spPr>
          <a:xfrm>
            <a:off x="582820" y="5189397"/>
            <a:ext cx="4280590" cy="615949"/>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Cambria Bold"/>
                <a:ea typeface="Cambria Bold"/>
                <a:cs typeface="Cambria Bold"/>
                <a:sym typeface="Cambria Bold"/>
              </a:rPr>
              <a:t>The Final Result</a:t>
            </a:r>
          </a:p>
        </p:txBody>
      </p:sp>
      <p:sp>
        <p:nvSpPr>
          <p:cNvPr id="6" name="TextBox 6"/>
          <p:cNvSpPr txBox="1"/>
          <p:nvPr/>
        </p:nvSpPr>
        <p:spPr>
          <a:xfrm>
            <a:off x="582820" y="5933572"/>
            <a:ext cx="5209294" cy="615949"/>
          </a:xfrm>
          <a:prstGeom prst="rect">
            <a:avLst/>
          </a:prstGeom>
        </p:spPr>
        <p:txBody>
          <a:bodyPr lIns="0" tIns="0" rIns="0" bIns="0" rtlCol="0" anchor="t">
            <a:spAutoFit/>
          </a:bodyPr>
          <a:lstStyle/>
          <a:p>
            <a:pPr algn="just">
              <a:lnSpc>
                <a:spcPts val="4900"/>
              </a:lnSpc>
              <a:spcBef>
                <a:spcPct val="0"/>
              </a:spcBef>
            </a:pPr>
            <a:r>
              <a:rPr lang="en-US" sz="3500" b="1">
                <a:solidFill>
                  <a:srgbClr val="000000"/>
                </a:solidFill>
                <a:latin typeface="Cambria Bold"/>
                <a:ea typeface="Cambria Bold"/>
                <a:cs typeface="Cambria Bold"/>
                <a:sym typeface="Cambria Bold"/>
              </a:rPr>
              <a:t>The Optimal Solution</a:t>
            </a:r>
          </a:p>
        </p:txBody>
      </p:sp>
      <p:sp>
        <p:nvSpPr>
          <p:cNvPr id="7" name="TextBox 7"/>
          <p:cNvSpPr txBox="1"/>
          <p:nvPr/>
        </p:nvSpPr>
        <p:spPr>
          <a:xfrm>
            <a:off x="582820" y="6706322"/>
            <a:ext cx="17122359" cy="782318"/>
          </a:xfrm>
          <a:prstGeom prst="rect">
            <a:avLst/>
          </a:prstGeom>
        </p:spPr>
        <p:txBody>
          <a:bodyPr lIns="0" tIns="0" rIns="0" bIns="0" rtlCol="0" anchor="t">
            <a:spAutoFit/>
          </a:bodyPr>
          <a:lstStyle/>
          <a:p>
            <a:pPr algn="just">
              <a:lnSpc>
                <a:spcPts val="3080"/>
              </a:lnSpc>
              <a:spcBef>
                <a:spcPct val="0"/>
              </a:spcBef>
            </a:pPr>
            <a:r>
              <a:rPr lang="en-US" sz="2200">
                <a:solidFill>
                  <a:srgbClr val="000000"/>
                </a:solidFill>
                <a:latin typeface="Cambria"/>
                <a:ea typeface="Cambria"/>
                <a:cs typeface="Cambria"/>
                <a:sym typeface="Cambria"/>
              </a:rPr>
              <a:t>After full operation over the iteration, we get the specific set of values (coordinates or parameters) that solve the problem with the highest accuracy.</a:t>
            </a:r>
          </a:p>
        </p:txBody>
      </p:sp>
      <p:sp>
        <p:nvSpPr>
          <p:cNvPr id="8" name="TextBox 8"/>
          <p:cNvSpPr txBox="1"/>
          <p:nvPr/>
        </p:nvSpPr>
        <p:spPr>
          <a:xfrm>
            <a:off x="582820" y="7820745"/>
            <a:ext cx="17122359" cy="391793"/>
          </a:xfrm>
          <a:prstGeom prst="rect">
            <a:avLst/>
          </a:prstGeom>
        </p:spPr>
        <p:txBody>
          <a:bodyPr lIns="0" tIns="0" rIns="0" bIns="0" rtlCol="0" anchor="t">
            <a:spAutoFit/>
          </a:bodyPr>
          <a:lstStyle/>
          <a:p>
            <a:pPr marL="474996" lvl="1" indent="-237498" algn="just">
              <a:lnSpc>
                <a:spcPts val="3080"/>
              </a:lnSpc>
              <a:buFont typeface="Arial"/>
              <a:buChar char="•"/>
            </a:pPr>
            <a:r>
              <a:rPr lang="en-US" sz="2200">
                <a:solidFill>
                  <a:srgbClr val="000000"/>
                </a:solidFill>
                <a:latin typeface="Cambria"/>
                <a:ea typeface="Cambria"/>
                <a:cs typeface="Cambria"/>
                <a:sym typeface="Cambria"/>
              </a:rPr>
              <a:t>This is the "score" of that solution, showing how close it got to the perfect answer (for example, the lowest error or highest efficiency).</a:t>
            </a:r>
          </a:p>
        </p:txBody>
      </p:sp>
      <p:grpSp>
        <p:nvGrpSpPr>
          <p:cNvPr id="9" name="Group 9"/>
          <p:cNvGrpSpPr/>
          <p:nvPr/>
        </p:nvGrpSpPr>
        <p:grpSpPr>
          <a:xfrm>
            <a:off x="10348740" y="2549258"/>
            <a:ext cx="7044822" cy="3735151"/>
            <a:chOff x="0" y="0"/>
            <a:chExt cx="9393097" cy="4980201"/>
          </a:xfrm>
        </p:grpSpPr>
        <p:sp>
          <p:nvSpPr>
            <p:cNvPr id="10" name="Freeform 10"/>
            <p:cNvSpPr/>
            <p:nvPr/>
          </p:nvSpPr>
          <p:spPr>
            <a:xfrm>
              <a:off x="4276843" y="0"/>
              <a:ext cx="5116253" cy="4980201"/>
            </a:xfrm>
            <a:custGeom>
              <a:avLst/>
              <a:gdLst/>
              <a:ahLst/>
              <a:cxnLst/>
              <a:rect l="l" t="t" r="r" b="b"/>
              <a:pathLst>
                <a:path w="5116253" h="4980201">
                  <a:moveTo>
                    <a:pt x="0" y="0"/>
                  </a:moveTo>
                  <a:lnTo>
                    <a:pt x="5116254" y="0"/>
                  </a:lnTo>
                  <a:lnTo>
                    <a:pt x="5116254" y="4980201"/>
                  </a:lnTo>
                  <a:lnTo>
                    <a:pt x="0" y="4980201"/>
                  </a:lnTo>
                  <a:lnTo>
                    <a:pt x="0" y="0"/>
                  </a:lnTo>
                  <a:close/>
                </a:path>
              </a:pathLst>
            </a:custGeom>
            <a:blipFill>
              <a:blip r:embed="rId2"/>
              <a:stretch>
                <a:fillRect l="-8799" r="-8799"/>
              </a:stretch>
            </a:blipFill>
          </p:spPr>
        </p:sp>
        <p:sp>
          <p:nvSpPr>
            <p:cNvPr id="11" name="TextBox 11"/>
            <p:cNvSpPr txBox="1"/>
            <p:nvPr/>
          </p:nvSpPr>
          <p:spPr>
            <a:xfrm>
              <a:off x="86621" y="4395977"/>
              <a:ext cx="3410102" cy="584224"/>
            </a:xfrm>
            <a:prstGeom prst="rect">
              <a:avLst/>
            </a:prstGeom>
          </p:spPr>
          <p:txBody>
            <a:bodyPr lIns="0" tIns="0" rIns="0" bIns="0" rtlCol="0" anchor="t">
              <a:spAutoFit/>
            </a:bodyPr>
            <a:lstStyle/>
            <a:p>
              <a:pPr algn="ctr">
                <a:lnSpc>
                  <a:spcPts val="3603"/>
                </a:lnSpc>
              </a:pPr>
              <a:r>
                <a:rPr lang="en-US" sz="2573" b="1">
                  <a:solidFill>
                    <a:srgbClr val="000000"/>
                  </a:solidFill>
                  <a:latin typeface="Cambria Bold"/>
                  <a:ea typeface="Cambria Bold"/>
                  <a:cs typeface="Cambria Bold"/>
                  <a:sym typeface="Cambria Bold"/>
                </a:rPr>
                <a:t>Old Environment</a:t>
              </a:r>
            </a:p>
          </p:txBody>
        </p:sp>
        <p:sp>
          <p:nvSpPr>
            <p:cNvPr id="12" name="TextBox 12"/>
            <p:cNvSpPr txBox="1"/>
            <p:nvPr/>
          </p:nvSpPr>
          <p:spPr>
            <a:xfrm>
              <a:off x="0" y="1751031"/>
              <a:ext cx="3583344" cy="584224"/>
            </a:xfrm>
            <a:prstGeom prst="rect">
              <a:avLst/>
            </a:prstGeom>
          </p:spPr>
          <p:txBody>
            <a:bodyPr lIns="0" tIns="0" rIns="0" bIns="0" rtlCol="0" anchor="t">
              <a:spAutoFit/>
            </a:bodyPr>
            <a:lstStyle/>
            <a:p>
              <a:pPr algn="ctr">
                <a:lnSpc>
                  <a:spcPts val="3603"/>
                </a:lnSpc>
              </a:pPr>
              <a:r>
                <a:rPr lang="en-US" sz="2573" b="1">
                  <a:solidFill>
                    <a:srgbClr val="000000"/>
                  </a:solidFill>
                  <a:latin typeface="Cambria Bold"/>
                  <a:ea typeface="Cambria Bold"/>
                  <a:cs typeface="Cambria Bold"/>
                  <a:sym typeface="Cambria Bold"/>
                </a:rPr>
                <a:t>New Environment</a:t>
              </a:r>
            </a:p>
          </p:txBody>
        </p:sp>
        <p:sp>
          <p:nvSpPr>
            <p:cNvPr id="13" name="AutoShape 13"/>
            <p:cNvSpPr/>
            <p:nvPr/>
          </p:nvSpPr>
          <p:spPr>
            <a:xfrm flipH="1">
              <a:off x="3583344" y="2046908"/>
              <a:ext cx="2850885" cy="29573"/>
            </a:xfrm>
            <a:prstGeom prst="line">
              <a:avLst/>
            </a:prstGeom>
            <a:ln w="65375" cap="flat">
              <a:solidFill>
                <a:srgbClr val="000000"/>
              </a:solidFill>
              <a:prstDash val="solid"/>
              <a:headEnd type="none" w="sm" len="sm"/>
              <a:tailEnd type="arrow" w="med" len="sm"/>
            </a:ln>
          </p:spPr>
        </p:sp>
        <p:sp>
          <p:nvSpPr>
            <p:cNvPr id="14" name="AutoShape 14"/>
            <p:cNvSpPr/>
            <p:nvPr/>
          </p:nvSpPr>
          <p:spPr>
            <a:xfrm flipH="1">
              <a:off x="3496723" y="4062099"/>
              <a:ext cx="3313213" cy="659328"/>
            </a:xfrm>
            <a:prstGeom prst="line">
              <a:avLst/>
            </a:prstGeom>
            <a:ln w="65375" cap="flat">
              <a:solidFill>
                <a:srgbClr val="000000"/>
              </a:solidFill>
              <a:prstDash val="solid"/>
              <a:headEnd type="none" w="sm" len="sm"/>
              <a:tailEnd type="arrow" w="med" len="sm"/>
            </a:ln>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099036" y="1834492"/>
            <a:ext cx="0" cy="7240899"/>
          </a:xfrm>
          <a:prstGeom prst="line">
            <a:avLst/>
          </a:prstGeom>
          <a:ln w="38100" cap="flat">
            <a:solidFill>
              <a:srgbClr val="000000"/>
            </a:solidFill>
            <a:prstDash val="solid"/>
            <a:headEnd type="none" w="sm" len="sm"/>
            <a:tailEnd type="none" w="sm" len="sm"/>
          </a:ln>
        </p:spPr>
      </p:sp>
      <p:sp>
        <p:nvSpPr>
          <p:cNvPr id="3" name="AutoShape 3"/>
          <p:cNvSpPr/>
          <p:nvPr/>
        </p:nvSpPr>
        <p:spPr>
          <a:xfrm>
            <a:off x="12673277" y="1834492"/>
            <a:ext cx="0" cy="4991735"/>
          </a:xfrm>
          <a:prstGeom prst="line">
            <a:avLst/>
          </a:prstGeom>
          <a:ln w="38100" cap="flat">
            <a:solidFill>
              <a:srgbClr val="000000"/>
            </a:solidFill>
            <a:prstDash val="solid"/>
            <a:headEnd type="none" w="sm" len="sm"/>
            <a:tailEnd type="none" w="sm" len="sm"/>
          </a:ln>
        </p:spPr>
      </p:sp>
      <p:sp>
        <p:nvSpPr>
          <p:cNvPr id="4" name="Freeform 4"/>
          <p:cNvSpPr/>
          <p:nvPr/>
        </p:nvSpPr>
        <p:spPr>
          <a:xfrm>
            <a:off x="6229387" y="6826227"/>
            <a:ext cx="11916230" cy="3291858"/>
          </a:xfrm>
          <a:custGeom>
            <a:avLst/>
            <a:gdLst/>
            <a:ahLst/>
            <a:cxnLst/>
            <a:rect l="l" t="t" r="r" b="b"/>
            <a:pathLst>
              <a:path w="11916230" h="3291858">
                <a:moveTo>
                  <a:pt x="0" y="0"/>
                </a:moveTo>
                <a:lnTo>
                  <a:pt x="11916230" y="0"/>
                </a:lnTo>
                <a:lnTo>
                  <a:pt x="11916230" y="3291858"/>
                </a:lnTo>
                <a:lnTo>
                  <a:pt x="0" y="3291858"/>
                </a:lnTo>
                <a:lnTo>
                  <a:pt x="0" y="0"/>
                </a:lnTo>
                <a:close/>
              </a:path>
            </a:pathLst>
          </a:custGeom>
          <a:blipFill>
            <a:blip r:embed="rId2"/>
            <a:stretch>
              <a:fillRect/>
            </a:stretch>
          </a:blipFill>
        </p:spPr>
      </p:sp>
      <p:sp>
        <p:nvSpPr>
          <p:cNvPr id="5" name="TextBox 5"/>
          <p:cNvSpPr txBox="1"/>
          <p:nvPr/>
        </p:nvSpPr>
        <p:spPr>
          <a:xfrm>
            <a:off x="5723978" y="447675"/>
            <a:ext cx="8403891" cy="1038225"/>
          </a:xfrm>
          <a:prstGeom prst="rect">
            <a:avLst/>
          </a:prstGeom>
        </p:spPr>
        <p:txBody>
          <a:bodyPr lIns="0" tIns="0" rIns="0" bIns="0" rtlCol="0" anchor="t">
            <a:spAutoFit/>
          </a:bodyPr>
          <a:lstStyle/>
          <a:p>
            <a:pPr algn="just">
              <a:lnSpc>
                <a:spcPts val="8400"/>
              </a:lnSpc>
            </a:pPr>
            <a:r>
              <a:rPr lang="en-US" sz="6000" b="1">
                <a:solidFill>
                  <a:srgbClr val="000000"/>
                </a:solidFill>
                <a:latin typeface="Cambria Bold"/>
                <a:ea typeface="Cambria Bold"/>
                <a:cs typeface="Cambria Bold"/>
                <a:sym typeface="Cambria Bold"/>
              </a:rPr>
              <a:t>The Proving Ground</a:t>
            </a:r>
          </a:p>
        </p:txBody>
      </p:sp>
      <p:sp>
        <p:nvSpPr>
          <p:cNvPr id="6" name="TextBox 6"/>
          <p:cNvSpPr txBox="1"/>
          <p:nvPr/>
        </p:nvSpPr>
        <p:spPr>
          <a:xfrm>
            <a:off x="1156189" y="1758292"/>
            <a:ext cx="4187773" cy="606425"/>
          </a:xfrm>
          <a:prstGeom prst="rect">
            <a:avLst/>
          </a:prstGeom>
        </p:spPr>
        <p:txBody>
          <a:bodyPr lIns="0" tIns="0" rIns="0" bIns="0" rtlCol="0" anchor="t">
            <a:spAutoFit/>
          </a:bodyPr>
          <a:lstStyle/>
          <a:p>
            <a:pPr algn="just">
              <a:lnSpc>
                <a:spcPts val="4899"/>
              </a:lnSpc>
            </a:pPr>
            <a:r>
              <a:rPr lang="en-US" sz="3499" b="1">
                <a:solidFill>
                  <a:srgbClr val="000000"/>
                </a:solidFill>
                <a:latin typeface="Cambria Bold"/>
                <a:ea typeface="Cambria Bold"/>
                <a:cs typeface="Cambria Bold"/>
                <a:sym typeface="Cambria Bold"/>
              </a:rPr>
              <a:t>Benchmark Suite</a:t>
            </a:r>
          </a:p>
        </p:txBody>
      </p:sp>
      <p:sp>
        <p:nvSpPr>
          <p:cNvPr id="7" name="TextBox 7"/>
          <p:cNvSpPr txBox="1"/>
          <p:nvPr/>
        </p:nvSpPr>
        <p:spPr>
          <a:xfrm>
            <a:off x="645589" y="2524610"/>
            <a:ext cx="4967672" cy="1172845"/>
          </a:xfrm>
          <a:prstGeom prst="rect">
            <a:avLst/>
          </a:prstGeom>
        </p:spPr>
        <p:txBody>
          <a:bodyPr lIns="0" tIns="0" rIns="0" bIns="0" rtlCol="0" anchor="t">
            <a:spAutoFit/>
          </a:bodyPr>
          <a:lstStyle/>
          <a:p>
            <a:pPr algn="just">
              <a:lnSpc>
                <a:spcPts val="3080"/>
              </a:lnSpc>
              <a:spcBef>
                <a:spcPct val="0"/>
              </a:spcBef>
            </a:pPr>
            <a:r>
              <a:rPr lang="en-US" sz="2200">
                <a:solidFill>
                  <a:srgbClr val="000000"/>
                </a:solidFill>
                <a:latin typeface="Cambria"/>
                <a:ea typeface="Cambria"/>
                <a:cs typeface="Cambria"/>
                <a:sym typeface="Cambria"/>
              </a:rPr>
              <a:t>The CEC 2017 test suite, a standard for evaluating optimization algorithms. (Made by Cheng et al. (2017))</a:t>
            </a:r>
          </a:p>
        </p:txBody>
      </p:sp>
      <p:sp>
        <p:nvSpPr>
          <p:cNvPr id="8" name="TextBox 8"/>
          <p:cNvSpPr txBox="1"/>
          <p:nvPr/>
        </p:nvSpPr>
        <p:spPr>
          <a:xfrm>
            <a:off x="645589" y="4239424"/>
            <a:ext cx="3564052" cy="533400"/>
          </a:xfrm>
          <a:prstGeom prst="rect">
            <a:avLst/>
          </a:prstGeom>
        </p:spPr>
        <p:txBody>
          <a:bodyPr lIns="0" tIns="0" rIns="0" bIns="0" rtlCol="0" anchor="t">
            <a:spAutoFit/>
          </a:bodyPr>
          <a:lstStyle/>
          <a:p>
            <a:pPr algn="just">
              <a:lnSpc>
                <a:spcPts val="4200"/>
              </a:lnSpc>
            </a:pPr>
            <a:r>
              <a:rPr lang="en-US" sz="3000" b="1">
                <a:solidFill>
                  <a:srgbClr val="000000"/>
                </a:solidFill>
                <a:latin typeface="Cambria Bold"/>
                <a:ea typeface="Cambria Bold"/>
                <a:cs typeface="Cambria Bold"/>
                <a:sym typeface="Cambria Bold"/>
              </a:rPr>
              <a:t>Function Types</a:t>
            </a:r>
          </a:p>
        </p:txBody>
      </p:sp>
      <p:sp>
        <p:nvSpPr>
          <p:cNvPr id="9" name="TextBox 9"/>
          <p:cNvSpPr txBox="1"/>
          <p:nvPr/>
        </p:nvSpPr>
        <p:spPr>
          <a:xfrm>
            <a:off x="645589" y="4868074"/>
            <a:ext cx="4967672" cy="1563370"/>
          </a:xfrm>
          <a:prstGeom prst="rect">
            <a:avLst/>
          </a:prstGeom>
        </p:spPr>
        <p:txBody>
          <a:bodyPr lIns="0" tIns="0" rIns="0" bIns="0" rtlCol="0" anchor="t">
            <a:spAutoFit/>
          </a:bodyPr>
          <a:lstStyle/>
          <a:p>
            <a:pPr algn="just">
              <a:lnSpc>
                <a:spcPts val="3080"/>
              </a:lnSpc>
              <a:spcBef>
                <a:spcPct val="0"/>
              </a:spcBef>
            </a:pPr>
            <a:r>
              <a:rPr lang="en-US" sz="2200">
                <a:solidFill>
                  <a:srgbClr val="000000"/>
                </a:solidFill>
                <a:latin typeface="Cambria"/>
                <a:ea typeface="Cambria"/>
                <a:cs typeface="Cambria"/>
                <a:sym typeface="Cambria"/>
              </a:rPr>
              <a:t>Includes unimodal, multimodal, hybrid, and composition functions to test robustness across diverse and deceptive landscapes.</a:t>
            </a:r>
          </a:p>
        </p:txBody>
      </p:sp>
      <p:sp>
        <p:nvSpPr>
          <p:cNvPr id="10" name="TextBox 10"/>
          <p:cNvSpPr txBox="1"/>
          <p:nvPr/>
        </p:nvSpPr>
        <p:spPr>
          <a:xfrm>
            <a:off x="645589" y="6690524"/>
            <a:ext cx="1782026" cy="533400"/>
          </a:xfrm>
          <a:prstGeom prst="rect">
            <a:avLst/>
          </a:prstGeom>
        </p:spPr>
        <p:txBody>
          <a:bodyPr lIns="0" tIns="0" rIns="0" bIns="0" rtlCol="0" anchor="t">
            <a:spAutoFit/>
          </a:bodyPr>
          <a:lstStyle/>
          <a:p>
            <a:pPr algn="just">
              <a:lnSpc>
                <a:spcPts val="4200"/>
              </a:lnSpc>
            </a:pPr>
            <a:r>
              <a:rPr lang="en-US" sz="3000" b="1">
                <a:solidFill>
                  <a:srgbClr val="000000"/>
                </a:solidFill>
                <a:latin typeface="Cambria Bold"/>
                <a:ea typeface="Cambria Bold"/>
                <a:cs typeface="Cambria Bold"/>
                <a:sym typeface="Cambria Bold"/>
              </a:rPr>
              <a:t>Usage</a:t>
            </a:r>
          </a:p>
        </p:txBody>
      </p:sp>
      <p:sp>
        <p:nvSpPr>
          <p:cNvPr id="11" name="TextBox 11"/>
          <p:cNvSpPr txBox="1"/>
          <p:nvPr/>
        </p:nvSpPr>
        <p:spPr>
          <a:xfrm>
            <a:off x="645589" y="7325524"/>
            <a:ext cx="4967672" cy="782320"/>
          </a:xfrm>
          <a:prstGeom prst="rect">
            <a:avLst/>
          </a:prstGeom>
        </p:spPr>
        <p:txBody>
          <a:bodyPr lIns="0" tIns="0" rIns="0" bIns="0" rtlCol="0" anchor="t">
            <a:spAutoFit/>
          </a:bodyPr>
          <a:lstStyle/>
          <a:p>
            <a:pPr algn="just">
              <a:lnSpc>
                <a:spcPts val="3080"/>
              </a:lnSpc>
              <a:spcBef>
                <a:spcPct val="0"/>
              </a:spcBef>
            </a:pPr>
            <a:r>
              <a:rPr lang="en-US" sz="2200">
                <a:solidFill>
                  <a:srgbClr val="000000"/>
                </a:solidFill>
                <a:latin typeface="Cambria"/>
                <a:ea typeface="Cambria"/>
                <a:cs typeface="Cambria"/>
                <a:sym typeface="Cambria"/>
              </a:rPr>
              <a:t>Functions C17-F1 to C17-F30 (excluding the unstable C17-F2).</a:t>
            </a:r>
          </a:p>
        </p:txBody>
      </p:sp>
      <p:sp>
        <p:nvSpPr>
          <p:cNvPr id="12" name="TextBox 12"/>
          <p:cNvSpPr txBox="1"/>
          <p:nvPr/>
        </p:nvSpPr>
        <p:spPr>
          <a:xfrm>
            <a:off x="7441109" y="1689264"/>
            <a:ext cx="3973906" cy="615950"/>
          </a:xfrm>
          <a:prstGeom prst="rect">
            <a:avLst/>
          </a:prstGeom>
        </p:spPr>
        <p:txBody>
          <a:bodyPr lIns="0" tIns="0" rIns="0" bIns="0" rtlCol="0" anchor="t">
            <a:spAutoFit/>
          </a:bodyPr>
          <a:lstStyle/>
          <a:p>
            <a:pPr algn="just">
              <a:lnSpc>
                <a:spcPts val="4900"/>
              </a:lnSpc>
            </a:pPr>
            <a:r>
              <a:rPr lang="en-US" sz="3500" b="1">
                <a:solidFill>
                  <a:srgbClr val="000000"/>
                </a:solidFill>
                <a:latin typeface="Cambria Bold"/>
                <a:ea typeface="Cambria Bold"/>
                <a:cs typeface="Cambria Bold"/>
                <a:sym typeface="Cambria Bold"/>
              </a:rPr>
              <a:t>The Competitors</a:t>
            </a:r>
          </a:p>
        </p:txBody>
      </p:sp>
      <p:sp>
        <p:nvSpPr>
          <p:cNvPr id="13" name="TextBox 13"/>
          <p:cNvSpPr txBox="1"/>
          <p:nvPr/>
        </p:nvSpPr>
        <p:spPr>
          <a:xfrm>
            <a:off x="6584811" y="2524610"/>
            <a:ext cx="5602691" cy="1172845"/>
          </a:xfrm>
          <a:prstGeom prst="rect">
            <a:avLst/>
          </a:prstGeom>
        </p:spPr>
        <p:txBody>
          <a:bodyPr lIns="0" tIns="0" rIns="0" bIns="0" rtlCol="0" anchor="t">
            <a:spAutoFit/>
          </a:bodyPr>
          <a:lstStyle/>
          <a:p>
            <a:pPr algn="just">
              <a:lnSpc>
                <a:spcPts val="3080"/>
              </a:lnSpc>
              <a:spcBef>
                <a:spcPct val="0"/>
              </a:spcBef>
            </a:pPr>
            <a:r>
              <a:rPr lang="en-US" sz="2200">
                <a:solidFill>
                  <a:srgbClr val="000000"/>
                </a:solidFill>
                <a:latin typeface="Cambria"/>
                <a:ea typeface="Cambria"/>
                <a:cs typeface="Cambria"/>
                <a:sym typeface="Cambria"/>
              </a:rPr>
              <a:t>COA was benchmarked against a field of seven established algorithms from different categories.</a:t>
            </a:r>
          </a:p>
        </p:txBody>
      </p:sp>
      <p:sp>
        <p:nvSpPr>
          <p:cNvPr id="14" name="TextBox 14"/>
          <p:cNvSpPr txBox="1"/>
          <p:nvPr/>
        </p:nvSpPr>
        <p:spPr>
          <a:xfrm>
            <a:off x="6584811" y="3894622"/>
            <a:ext cx="4692742" cy="533400"/>
          </a:xfrm>
          <a:prstGeom prst="rect">
            <a:avLst/>
          </a:prstGeom>
        </p:spPr>
        <p:txBody>
          <a:bodyPr lIns="0" tIns="0" rIns="0" bIns="0" rtlCol="0" anchor="t">
            <a:spAutoFit/>
          </a:bodyPr>
          <a:lstStyle/>
          <a:p>
            <a:pPr algn="just">
              <a:lnSpc>
                <a:spcPts val="4200"/>
              </a:lnSpc>
            </a:pPr>
            <a:r>
              <a:rPr lang="en-US" sz="3000" b="1">
                <a:solidFill>
                  <a:srgbClr val="000000"/>
                </a:solidFill>
                <a:latin typeface="Cambria Bold"/>
                <a:ea typeface="Cambria Bold"/>
                <a:cs typeface="Cambria Bold"/>
                <a:sym typeface="Cambria Bold"/>
              </a:rPr>
              <a:t>Swarm Intelligence</a:t>
            </a:r>
          </a:p>
        </p:txBody>
      </p:sp>
      <p:sp>
        <p:nvSpPr>
          <p:cNvPr id="15" name="TextBox 15"/>
          <p:cNvSpPr txBox="1"/>
          <p:nvPr/>
        </p:nvSpPr>
        <p:spPr>
          <a:xfrm>
            <a:off x="6584811" y="4620110"/>
            <a:ext cx="2906050" cy="362343"/>
          </a:xfrm>
          <a:prstGeom prst="rect">
            <a:avLst/>
          </a:prstGeom>
        </p:spPr>
        <p:txBody>
          <a:bodyPr wrap="square" lIns="0" tIns="0" rIns="0" bIns="0" rtlCol="0" anchor="t">
            <a:spAutoFit/>
          </a:bodyPr>
          <a:lstStyle/>
          <a:p>
            <a:pPr algn="just">
              <a:lnSpc>
                <a:spcPts val="3080"/>
              </a:lnSpc>
            </a:pPr>
            <a:r>
              <a:rPr lang="en-US" sz="2200" dirty="0">
                <a:solidFill>
                  <a:srgbClr val="000000"/>
                </a:solidFill>
                <a:latin typeface="Cambria"/>
                <a:ea typeface="Cambria"/>
                <a:cs typeface="Cambria"/>
                <a:sym typeface="Cambria"/>
              </a:rPr>
              <a:t>WSO, PSO, GWO, ACO</a:t>
            </a:r>
          </a:p>
        </p:txBody>
      </p:sp>
      <p:sp>
        <p:nvSpPr>
          <p:cNvPr id="16" name="TextBox 16"/>
          <p:cNvSpPr txBox="1"/>
          <p:nvPr/>
        </p:nvSpPr>
        <p:spPr>
          <a:xfrm>
            <a:off x="6584811" y="5147160"/>
            <a:ext cx="3552302" cy="533400"/>
          </a:xfrm>
          <a:prstGeom prst="rect">
            <a:avLst/>
          </a:prstGeom>
        </p:spPr>
        <p:txBody>
          <a:bodyPr lIns="0" tIns="0" rIns="0" bIns="0" rtlCol="0" anchor="t">
            <a:spAutoFit/>
          </a:bodyPr>
          <a:lstStyle/>
          <a:p>
            <a:pPr algn="just">
              <a:lnSpc>
                <a:spcPts val="4200"/>
              </a:lnSpc>
            </a:pPr>
            <a:r>
              <a:rPr lang="en-US" sz="3000" b="1">
                <a:solidFill>
                  <a:srgbClr val="000000"/>
                </a:solidFill>
                <a:latin typeface="Cambria Bold"/>
                <a:ea typeface="Cambria Bold"/>
                <a:cs typeface="Cambria Bold"/>
                <a:sym typeface="Cambria Bold"/>
              </a:rPr>
              <a:t>Evolutionary</a:t>
            </a:r>
          </a:p>
        </p:txBody>
      </p:sp>
      <p:sp>
        <p:nvSpPr>
          <p:cNvPr id="17" name="TextBox 17"/>
          <p:cNvSpPr txBox="1"/>
          <p:nvPr/>
        </p:nvSpPr>
        <p:spPr>
          <a:xfrm>
            <a:off x="6584810" y="5791686"/>
            <a:ext cx="1035185" cy="362343"/>
          </a:xfrm>
          <a:prstGeom prst="rect">
            <a:avLst/>
          </a:prstGeom>
        </p:spPr>
        <p:txBody>
          <a:bodyPr wrap="square" lIns="0" tIns="0" rIns="0" bIns="0" rtlCol="0" anchor="t">
            <a:spAutoFit/>
          </a:bodyPr>
          <a:lstStyle/>
          <a:p>
            <a:pPr algn="just">
              <a:lnSpc>
                <a:spcPts val="3080"/>
              </a:lnSpc>
            </a:pPr>
            <a:r>
              <a:rPr lang="en-US" sz="2200" dirty="0">
                <a:solidFill>
                  <a:srgbClr val="000000"/>
                </a:solidFill>
                <a:latin typeface="Cambria"/>
                <a:ea typeface="Cambria"/>
                <a:cs typeface="Cambria"/>
                <a:sym typeface="Cambria"/>
              </a:rPr>
              <a:t>DE, GA</a:t>
            </a:r>
          </a:p>
        </p:txBody>
      </p:sp>
      <p:sp>
        <p:nvSpPr>
          <p:cNvPr id="18" name="TextBox 18"/>
          <p:cNvSpPr txBox="1"/>
          <p:nvPr/>
        </p:nvSpPr>
        <p:spPr>
          <a:xfrm>
            <a:off x="6584811" y="6318735"/>
            <a:ext cx="3341112" cy="533400"/>
          </a:xfrm>
          <a:prstGeom prst="rect">
            <a:avLst/>
          </a:prstGeom>
        </p:spPr>
        <p:txBody>
          <a:bodyPr lIns="0" tIns="0" rIns="0" bIns="0" rtlCol="0" anchor="t">
            <a:spAutoFit/>
          </a:bodyPr>
          <a:lstStyle/>
          <a:p>
            <a:pPr algn="just">
              <a:lnSpc>
                <a:spcPts val="4200"/>
              </a:lnSpc>
            </a:pPr>
            <a:r>
              <a:rPr lang="en-US" sz="3000" b="1">
                <a:solidFill>
                  <a:srgbClr val="000000"/>
                </a:solidFill>
                <a:latin typeface="Cambria Bold"/>
                <a:ea typeface="Cambria Bold"/>
                <a:cs typeface="Cambria Bold"/>
                <a:sym typeface="Cambria Bold"/>
              </a:rPr>
              <a:t>Physics Based</a:t>
            </a:r>
          </a:p>
        </p:txBody>
      </p:sp>
      <p:sp>
        <p:nvSpPr>
          <p:cNvPr id="19" name="TextBox 19"/>
          <p:cNvSpPr txBox="1"/>
          <p:nvPr/>
        </p:nvSpPr>
        <p:spPr>
          <a:xfrm>
            <a:off x="6584811" y="6963260"/>
            <a:ext cx="856298" cy="362343"/>
          </a:xfrm>
          <a:prstGeom prst="rect">
            <a:avLst/>
          </a:prstGeom>
        </p:spPr>
        <p:txBody>
          <a:bodyPr wrap="square" lIns="0" tIns="0" rIns="0" bIns="0" rtlCol="0" anchor="t">
            <a:spAutoFit/>
          </a:bodyPr>
          <a:lstStyle/>
          <a:p>
            <a:pPr algn="just">
              <a:lnSpc>
                <a:spcPts val="3080"/>
              </a:lnSpc>
            </a:pPr>
            <a:r>
              <a:rPr lang="en-US" sz="2200" dirty="0">
                <a:solidFill>
                  <a:srgbClr val="000000"/>
                </a:solidFill>
                <a:latin typeface="Cambria"/>
                <a:ea typeface="Cambria"/>
                <a:cs typeface="Cambria"/>
                <a:sym typeface="Cambria"/>
              </a:rPr>
              <a:t>GSA</a:t>
            </a:r>
          </a:p>
        </p:txBody>
      </p:sp>
      <p:sp>
        <p:nvSpPr>
          <p:cNvPr id="20" name="TextBox 20"/>
          <p:cNvSpPr txBox="1"/>
          <p:nvPr/>
        </p:nvSpPr>
        <p:spPr>
          <a:xfrm>
            <a:off x="13227323" y="1689339"/>
            <a:ext cx="4492554" cy="615950"/>
          </a:xfrm>
          <a:prstGeom prst="rect">
            <a:avLst/>
          </a:prstGeom>
        </p:spPr>
        <p:txBody>
          <a:bodyPr lIns="0" tIns="0" rIns="0" bIns="0" rtlCol="0" anchor="t">
            <a:spAutoFit/>
          </a:bodyPr>
          <a:lstStyle/>
          <a:p>
            <a:pPr algn="just">
              <a:lnSpc>
                <a:spcPts val="4900"/>
              </a:lnSpc>
            </a:pPr>
            <a:r>
              <a:rPr lang="en-US" sz="3500" b="1">
                <a:solidFill>
                  <a:srgbClr val="000000"/>
                </a:solidFill>
                <a:latin typeface="Cambria Bold"/>
                <a:ea typeface="Cambria Bold"/>
                <a:cs typeface="Cambria Bold"/>
                <a:sym typeface="Cambria Bold"/>
              </a:rPr>
              <a:t>Experimental Setup</a:t>
            </a:r>
          </a:p>
        </p:txBody>
      </p:sp>
      <p:grpSp>
        <p:nvGrpSpPr>
          <p:cNvPr id="21" name="Group 21"/>
          <p:cNvGrpSpPr/>
          <p:nvPr/>
        </p:nvGrpSpPr>
        <p:grpSpPr>
          <a:xfrm>
            <a:off x="13159051" y="2531754"/>
            <a:ext cx="4560825" cy="2413155"/>
            <a:chOff x="-1" y="-66675"/>
            <a:chExt cx="6081100" cy="3217540"/>
          </a:xfrm>
        </p:grpSpPr>
        <p:sp>
          <p:nvSpPr>
            <p:cNvPr id="22" name="TextBox 22"/>
            <p:cNvSpPr txBox="1"/>
            <p:nvPr/>
          </p:nvSpPr>
          <p:spPr>
            <a:xfrm>
              <a:off x="0" y="-66675"/>
              <a:ext cx="2230636" cy="566307"/>
            </a:xfrm>
            <a:prstGeom prst="rect">
              <a:avLst/>
            </a:prstGeom>
          </p:spPr>
          <p:txBody>
            <a:bodyPr lIns="0" tIns="0" rIns="0" bIns="0" rtlCol="0" anchor="t">
              <a:spAutoFit/>
            </a:bodyPr>
            <a:lstStyle/>
            <a:p>
              <a:pPr algn="just">
                <a:lnSpc>
                  <a:spcPts val="3500"/>
                </a:lnSpc>
              </a:pPr>
              <a:r>
                <a:rPr lang="en-US" sz="2500" b="1">
                  <a:solidFill>
                    <a:srgbClr val="000000"/>
                  </a:solidFill>
                  <a:latin typeface="Cambria Bold"/>
                  <a:ea typeface="Cambria Bold"/>
                  <a:cs typeface="Cambria Bold"/>
                  <a:sym typeface="Cambria Bold"/>
                </a:rPr>
                <a:t>Dimension:</a:t>
              </a:r>
            </a:p>
          </p:txBody>
        </p:sp>
        <p:sp>
          <p:nvSpPr>
            <p:cNvPr id="23" name="TextBox 23"/>
            <p:cNvSpPr txBox="1"/>
            <p:nvPr/>
          </p:nvSpPr>
          <p:spPr>
            <a:xfrm>
              <a:off x="-1" y="602612"/>
              <a:ext cx="3485795" cy="546048"/>
            </a:xfrm>
            <a:prstGeom prst="rect">
              <a:avLst/>
            </a:prstGeom>
          </p:spPr>
          <p:txBody>
            <a:bodyPr wrap="square" lIns="0" tIns="0" rIns="0" bIns="0" rtlCol="0" anchor="t">
              <a:spAutoFit/>
            </a:bodyPr>
            <a:lstStyle/>
            <a:p>
              <a:pPr marL="0" lvl="0" indent="0" algn="just">
                <a:lnSpc>
                  <a:spcPts val="3500"/>
                </a:lnSpc>
                <a:spcBef>
                  <a:spcPct val="0"/>
                </a:spcBef>
              </a:pPr>
              <a:r>
                <a:rPr lang="en-US" sz="2500" b="1" u="none" strike="noStrike">
                  <a:solidFill>
                    <a:srgbClr val="000000"/>
                  </a:solidFill>
                  <a:latin typeface="Cambria Bold"/>
                  <a:ea typeface="Cambria Bold"/>
                  <a:cs typeface="Cambria Bold"/>
                  <a:sym typeface="Cambria Bold"/>
                </a:rPr>
                <a:t>Population Size:</a:t>
              </a:r>
            </a:p>
          </p:txBody>
        </p:sp>
        <p:sp>
          <p:nvSpPr>
            <p:cNvPr id="24" name="TextBox 24"/>
            <p:cNvSpPr txBox="1"/>
            <p:nvPr/>
          </p:nvSpPr>
          <p:spPr>
            <a:xfrm>
              <a:off x="0" y="1351911"/>
              <a:ext cx="2739033" cy="566307"/>
            </a:xfrm>
            <a:prstGeom prst="rect">
              <a:avLst/>
            </a:prstGeom>
          </p:spPr>
          <p:txBody>
            <a:bodyPr lIns="0" tIns="0" rIns="0" bIns="0" rtlCol="0" anchor="t">
              <a:spAutoFit/>
            </a:bodyPr>
            <a:lstStyle/>
            <a:p>
              <a:pPr marL="0" lvl="0" indent="0" algn="just">
                <a:lnSpc>
                  <a:spcPts val="3500"/>
                </a:lnSpc>
                <a:spcBef>
                  <a:spcPct val="0"/>
                </a:spcBef>
              </a:pPr>
              <a:r>
                <a:rPr lang="en-US" sz="2500" b="1" u="none" strike="noStrike">
                  <a:solidFill>
                    <a:srgbClr val="000000"/>
                  </a:solidFill>
                  <a:latin typeface="Cambria Bold"/>
                  <a:ea typeface="Cambria Bold"/>
                  <a:cs typeface="Cambria Bold"/>
                  <a:sym typeface="Cambria Bold"/>
                </a:rPr>
                <a:t>Max Iteration:</a:t>
              </a:r>
            </a:p>
          </p:txBody>
        </p:sp>
        <p:sp>
          <p:nvSpPr>
            <p:cNvPr id="25" name="TextBox 25"/>
            <p:cNvSpPr txBox="1"/>
            <p:nvPr/>
          </p:nvSpPr>
          <p:spPr>
            <a:xfrm>
              <a:off x="0" y="2101211"/>
              <a:ext cx="6081099" cy="566307"/>
            </a:xfrm>
            <a:prstGeom prst="rect">
              <a:avLst/>
            </a:prstGeom>
          </p:spPr>
          <p:txBody>
            <a:bodyPr lIns="0" tIns="0" rIns="0" bIns="0" rtlCol="0" anchor="t">
              <a:spAutoFit/>
            </a:bodyPr>
            <a:lstStyle/>
            <a:p>
              <a:pPr marL="0" lvl="0" indent="0" algn="just">
                <a:lnSpc>
                  <a:spcPts val="3500"/>
                </a:lnSpc>
                <a:spcBef>
                  <a:spcPct val="0"/>
                </a:spcBef>
              </a:pPr>
              <a:r>
                <a:rPr lang="en-US" sz="2500" b="1" u="none" strike="noStrike">
                  <a:solidFill>
                    <a:srgbClr val="000000"/>
                  </a:solidFill>
                  <a:latin typeface="Cambria Bold"/>
                  <a:ea typeface="Cambria Bold"/>
                  <a:cs typeface="Cambria Bold"/>
                  <a:sym typeface="Cambria Bold"/>
                </a:rPr>
                <a:t>Runs:</a:t>
              </a:r>
            </a:p>
          </p:txBody>
        </p:sp>
        <p:sp>
          <p:nvSpPr>
            <p:cNvPr id="26" name="TextBox 26"/>
            <p:cNvSpPr txBox="1"/>
            <p:nvPr/>
          </p:nvSpPr>
          <p:spPr>
            <a:xfrm>
              <a:off x="2393074" y="-3612"/>
              <a:ext cx="412552" cy="503244"/>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10</a:t>
              </a:r>
            </a:p>
          </p:txBody>
        </p:sp>
        <p:sp>
          <p:nvSpPr>
            <p:cNvPr id="27" name="TextBox 27"/>
            <p:cNvSpPr txBox="1"/>
            <p:nvPr/>
          </p:nvSpPr>
          <p:spPr>
            <a:xfrm>
              <a:off x="3295394" y="662711"/>
              <a:ext cx="618827" cy="503244"/>
            </a:xfrm>
            <a:prstGeom prst="rect">
              <a:avLst/>
            </a:prstGeom>
          </p:spPr>
          <p:txBody>
            <a:bodyPr lIns="0" tIns="0" rIns="0" bIns="0" rtlCol="0" anchor="t">
              <a:spAutoFit/>
            </a:bodyPr>
            <a:lstStyle/>
            <a:p>
              <a:pPr marL="0" lvl="0" indent="0" algn="just">
                <a:lnSpc>
                  <a:spcPts val="3080"/>
                </a:lnSpc>
                <a:spcBef>
                  <a:spcPct val="0"/>
                </a:spcBef>
              </a:pPr>
              <a:r>
                <a:rPr lang="en-US" sz="2200" u="none" strike="noStrike" dirty="0">
                  <a:solidFill>
                    <a:srgbClr val="000000"/>
                  </a:solidFill>
                  <a:latin typeface="Cambria"/>
                  <a:ea typeface="Cambria"/>
                  <a:cs typeface="Cambria"/>
                  <a:sym typeface="Cambria"/>
                </a:rPr>
                <a:t>100</a:t>
              </a:r>
            </a:p>
          </p:txBody>
        </p:sp>
        <p:sp>
          <p:nvSpPr>
            <p:cNvPr id="28" name="TextBox 28"/>
            <p:cNvSpPr txBox="1"/>
            <p:nvPr/>
          </p:nvSpPr>
          <p:spPr>
            <a:xfrm>
              <a:off x="2882842" y="1388205"/>
              <a:ext cx="825103" cy="503244"/>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1000</a:t>
              </a:r>
            </a:p>
          </p:txBody>
        </p:sp>
        <p:sp>
          <p:nvSpPr>
            <p:cNvPr id="29" name="TextBox 29"/>
            <p:cNvSpPr txBox="1"/>
            <p:nvPr/>
          </p:nvSpPr>
          <p:spPr>
            <a:xfrm>
              <a:off x="1209868" y="2127020"/>
              <a:ext cx="4568773" cy="1023845"/>
            </a:xfrm>
            <a:prstGeom prst="rect">
              <a:avLst/>
            </a:prstGeom>
          </p:spPr>
          <p:txBody>
            <a:bodyPr lIns="0" tIns="0" rIns="0" bIns="0" rtlCol="0" anchor="t">
              <a:spAutoFit/>
            </a:bodyPr>
            <a:lstStyle/>
            <a:p>
              <a:pPr marL="0" lvl="0" indent="0" algn="just">
                <a:lnSpc>
                  <a:spcPts val="3080"/>
                </a:lnSpc>
                <a:spcBef>
                  <a:spcPct val="0"/>
                </a:spcBef>
              </a:pPr>
              <a:r>
                <a:rPr lang="en-US" sz="2200" u="none" strike="noStrike">
                  <a:solidFill>
                    <a:srgbClr val="000000"/>
                  </a:solidFill>
                  <a:latin typeface="Cambria"/>
                  <a:ea typeface="Cambria"/>
                  <a:cs typeface="Cambria"/>
                  <a:sym typeface="Cambria"/>
                </a:rPr>
                <a:t>10 independent runs per function</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64228" y="4437049"/>
            <a:ext cx="10627040" cy="5021276"/>
          </a:xfrm>
          <a:custGeom>
            <a:avLst/>
            <a:gdLst/>
            <a:ahLst/>
            <a:cxnLst/>
            <a:rect l="l" t="t" r="r" b="b"/>
            <a:pathLst>
              <a:path w="10627040" h="5021276">
                <a:moveTo>
                  <a:pt x="0" y="0"/>
                </a:moveTo>
                <a:lnTo>
                  <a:pt x="10627040" y="0"/>
                </a:lnTo>
                <a:lnTo>
                  <a:pt x="10627040" y="5021276"/>
                </a:lnTo>
                <a:lnTo>
                  <a:pt x="0" y="5021276"/>
                </a:lnTo>
                <a:lnTo>
                  <a:pt x="0" y="0"/>
                </a:lnTo>
                <a:close/>
              </a:path>
            </a:pathLst>
          </a:custGeom>
          <a:blipFill>
            <a:blip r:embed="rId2">
              <a:alphaModFix amt="79000"/>
            </a:blip>
            <a:stretch>
              <a:fillRect/>
            </a:stretch>
          </a:blipFill>
        </p:spPr>
      </p:sp>
      <p:sp>
        <p:nvSpPr>
          <p:cNvPr id="3" name="TextBox 3"/>
          <p:cNvSpPr txBox="1"/>
          <p:nvPr/>
        </p:nvSpPr>
        <p:spPr>
          <a:xfrm>
            <a:off x="6498372" y="447675"/>
            <a:ext cx="6265183" cy="1038225"/>
          </a:xfrm>
          <a:prstGeom prst="rect">
            <a:avLst/>
          </a:prstGeom>
        </p:spPr>
        <p:txBody>
          <a:bodyPr lIns="0" tIns="0" rIns="0" bIns="0" rtlCol="0" anchor="t">
            <a:spAutoFit/>
          </a:bodyPr>
          <a:lstStyle/>
          <a:p>
            <a:pPr algn="just">
              <a:lnSpc>
                <a:spcPts val="8400"/>
              </a:lnSpc>
            </a:pPr>
            <a:r>
              <a:rPr lang="en-US" sz="6000" b="1">
                <a:solidFill>
                  <a:srgbClr val="000000"/>
                </a:solidFill>
                <a:latin typeface="Cambria Bold"/>
                <a:ea typeface="Cambria Bold"/>
                <a:cs typeface="Cambria Bold"/>
                <a:sym typeface="Cambria Bold"/>
              </a:rPr>
              <a:t>Result Analysis</a:t>
            </a:r>
          </a:p>
        </p:txBody>
      </p:sp>
      <p:sp>
        <p:nvSpPr>
          <p:cNvPr id="4" name="TextBox 4"/>
          <p:cNvSpPr txBox="1"/>
          <p:nvPr/>
        </p:nvSpPr>
        <p:spPr>
          <a:xfrm>
            <a:off x="773467" y="1682118"/>
            <a:ext cx="4265317" cy="615950"/>
          </a:xfrm>
          <a:prstGeom prst="rect">
            <a:avLst/>
          </a:prstGeom>
        </p:spPr>
        <p:txBody>
          <a:bodyPr lIns="0" tIns="0" rIns="0" bIns="0" rtlCol="0" anchor="t">
            <a:spAutoFit/>
          </a:bodyPr>
          <a:lstStyle/>
          <a:p>
            <a:pPr algn="just">
              <a:lnSpc>
                <a:spcPts val="4900"/>
              </a:lnSpc>
            </a:pPr>
            <a:r>
              <a:rPr lang="en-US" sz="3500" b="1">
                <a:solidFill>
                  <a:srgbClr val="000000"/>
                </a:solidFill>
                <a:latin typeface="Cambria Bold"/>
                <a:ea typeface="Cambria Bold"/>
                <a:cs typeface="Cambria Bold"/>
                <a:sym typeface="Cambria Bold"/>
              </a:rPr>
              <a:t>Key Findings:</a:t>
            </a:r>
          </a:p>
        </p:txBody>
      </p:sp>
      <p:sp>
        <p:nvSpPr>
          <p:cNvPr id="5" name="TextBox 5"/>
          <p:cNvSpPr txBox="1"/>
          <p:nvPr/>
        </p:nvSpPr>
        <p:spPr>
          <a:xfrm>
            <a:off x="1233658" y="2385269"/>
            <a:ext cx="8824742" cy="362343"/>
          </a:xfrm>
          <a:prstGeom prst="rect">
            <a:avLst/>
          </a:prstGeom>
        </p:spPr>
        <p:txBody>
          <a:bodyPr wrap="square" lIns="0" tIns="0" rIns="0" bIns="0" rtlCol="0" anchor="t">
            <a:spAutoFit/>
          </a:bodyPr>
          <a:lstStyle/>
          <a:p>
            <a:pPr marL="474984" lvl="1" indent="-237492" algn="just">
              <a:lnSpc>
                <a:spcPts val="3080"/>
              </a:lnSpc>
              <a:buFont typeface="Arial"/>
              <a:buChar char="•"/>
            </a:pPr>
            <a:r>
              <a:rPr lang="en-US" sz="2200" dirty="0">
                <a:solidFill>
                  <a:srgbClr val="000000"/>
                </a:solidFill>
                <a:latin typeface="Cambria"/>
                <a:ea typeface="Cambria"/>
                <a:cs typeface="Cambria"/>
                <a:sym typeface="Cambria"/>
              </a:rPr>
              <a:t>COA shows superior results in composition and hybrid functions.</a:t>
            </a:r>
          </a:p>
        </p:txBody>
      </p:sp>
      <p:sp>
        <p:nvSpPr>
          <p:cNvPr id="6" name="TextBox 6"/>
          <p:cNvSpPr txBox="1"/>
          <p:nvPr/>
        </p:nvSpPr>
        <p:spPr>
          <a:xfrm>
            <a:off x="1233658" y="2985344"/>
            <a:ext cx="16025642" cy="391720"/>
          </a:xfrm>
          <a:prstGeom prst="rect">
            <a:avLst/>
          </a:prstGeom>
        </p:spPr>
        <p:txBody>
          <a:bodyPr lIns="0" tIns="0" rIns="0" bIns="0" rtlCol="0" anchor="t">
            <a:spAutoFit/>
          </a:bodyPr>
          <a:lstStyle/>
          <a:p>
            <a:pPr marL="474984" lvl="1" indent="-237492" algn="l">
              <a:lnSpc>
                <a:spcPts val="3080"/>
              </a:lnSpc>
              <a:buFont typeface="Arial"/>
              <a:buChar char="•"/>
            </a:pPr>
            <a:r>
              <a:rPr lang="en-US" sz="2200">
                <a:solidFill>
                  <a:srgbClr val="000000"/>
                </a:solidFill>
                <a:latin typeface="Cambria"/>
                <a:ea typeface="Cambria"/>
                <a:cs typeface="Cambria"/>
                <a:sym typeface="Cambria"/>
              </a:rPr>
              <a:t>Consistency: The algorithm achieved higher accuracy and stability compared to GA, PSO, and GWO</a:t>
            </a:r>
          </a:p>
        </p:txBody>
      </p:sp>
      <p:sp>
        <p:nvSpPr>
          <p:cNvPr id="7" name="TextBox 7"/>
          <p:cNvSpPr txBox="1"/>
          <p:nvPr/>
        </p:nvSpPr>
        <p:spPr>
          <a:xfrm>
            <a:off x="1233658" y="3588594"/>
            <a:ext cx="10196342" cy="362343"/>
          </a:xfrm>
          <a:prstGeom prst="rect">
            <a:avLst/>
          </a:prstGeom>
        </p:spPr>
        <p:txBody>
          <a:bodyPr wrap="square" lIns="0" tIns="0" rIns="0" bIns="0" rtlCol="0" anchor="t">
            <a:spAutoFit/>
          </a:bodyPr>
          <a:lstStyle/>
          <a:p>
            <a:pPr marL="474984" lvl="1" indent="-237492" algn="l">
              <a:lnSpc>
                <a:spcPts val="3080"/>
              </a:lnSpc>
              <a:buFont typeface="Arial"/>
              <a:buChar char="•"/>
            </a:pPr>
            <a:r>
              <a:rPr lang="en-US" sz="2200" dirty="0">
                <a:solidFill>
                  <a:srgbClr val="000000"/>
                </a:solidFill>
                <a:latin typeface="Cambria"/>
                <a:ea typeface="Cambria"/>
                <a:cs typeface="Cambria"/>
                <a:sym typeface="Cambria"/>
              </a:rPr>
              <a:t>Note: C17-F2 was excluded from results due to unstable benchmark behavior.</a:t>
            </a:r>
          </a:p>
        </p:txBody>
      </p:sp>
      <p:sp>
        <p:nvSpPr>
          <p:cNvPr id="8" name="TextBox 8"/>
          <p:cNvSpPr txBox="1"/>
          <p:nvPr/>
        </p:nvSpPr>
        <p:spPr>
          <a:xfrm rot="-5400000">
            <a:off x="2268078" y="6680987"/>
            <a:ext cx="2838308" cy="533400"/>
          </a:xfrm>
          <a:prstGeom prst="rect">
            <a:avLst/>
          </a:prstGeom>
        </p:spPr>
        <p:txBody>
          <a:bodyPr lIns="0" tIns="0" rIns="0" bIns="0" rtlCol="0" anchor="t">
            <a:spAutoFit/>
          </a:bodyPr>
          <a:lstStyle/>
          <a:p>
            <a:pPr algn="just">
              <a:lnSpc>
                <a:spcPts val="4200"/>
              </a:lnSpc>
            </a:pPr>
            <a:r>
              <a:rPr lang="en-US" sz="3000" b="1">
                <a:solidFill>
                  <a:srgbClr val="000000"/>
                </a:solidFill>
                <a:latin typeface="Cambria Bold"/>
                <a:ea typeface="Cambria Bold"/>
                <a:cs typeface="Cambria Bold"/>
                <a:sym typeface="Cambria Bold"/>
              </a:rPr>
              <a:t>Average rank</a:t>
            </a:r>
          </a:p>
        </p:txBody>
      </p:sp>
      <p:sp>
        <p:nvSpPr>
          <p:cNvPr id="9" name="TextBox 9"/>
          <p:cNvSpPr txBox="1"/>
          <p:nvPr/>
        </p:nvSpPr>
        <p:spPr>
          <a:xfrm>
            <a:off x="8586664" y="9467850"/>
            <a:ext cx="2979285" cy="533400"/>
          </a:xfrm>
          <a:prstGeom prst="rect">
            <a:avLst/>
          </a:prstGeom>
        </p:spPr>
        <p:txBody>
          <a:bodyPr lIns="0" tIns="0" rIns="0" bIns="0" rtlCol="0" anchor="t">
            <a:spAutoFit/>
          </a:bodyPr>
          <a:lstStyle/>
          <a:p>
            <a:pPr algn="just">
              <a:lnSpc>
                <a:spcPts val="4200"/>
              </a:lnSpc>
            </a:pPr>
            <a:r>
              <a:rPr lang="en-US" sz="3000" b="1">
                <a:solidFill>
                  <a:srgbClr val="000000"/>
                </a:solidFill>
                <a:latin typeface="Cambria Bold"/>
                <a:ea typeface="Cambria Bold"/>
                <a:cs typeface="Cambria Bold"/>
                <a:sym typeface="Cambria Bold"/>
              </a:rPr>
              <a:t>Algorithm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54902" y="452437"/>
            <a:ext cx="5254866" cy="1028701"/>
          </a:xfrm>
          <a:prstGeom prst="rect">
            <a:avLst/>
          </a:prstGeom>
        </p:spPr>
        <p:txBody>
          <a:bodyPr lIns="0" tIns="0" rIns="0" bIns="0" rtlCol="0" anchor="t">
            <a:spAutoFit/>
          </a:bodyPr>
          <a:lstStyle/>
          <a:p>
            <a:pPr algn="just">
              <a:lnSpc>
                <a:spcPts val="8399"/>
              </a:lnSpc>
            </a:pPr>
            <a:r>
              <a:rPr lang="en-US" sz="5999" b="1">
                <a:solidFill>
                  <a:srgbClr val="000000"/>
                </a:solidFill>
                <a:latin typeface="Cambria Bold"/>
                <a:ea typeface="Cambria Bold"/>
                <a:cs typeface="Cambria Bold"/>
                <a:sym typeface="Cambria Bold"/>
              </a:rPr>
              <a:t>Conclusion</a:t>
            </a:r>
          </a:p>
        </p:txBody>
      </p:sp>
      <p:sp>
        <p:nvSpPr>
          <p:cNvPr id="3" name="TextBox 3"/>
          <p:cNvSpPr txBox="1"/>
          <p:nvPr/>
        </p:nvSpPr>
        <p:spPr>
          <a:xfrm>
            <a:off x="1028700" y="1707672"/>
            <a:ext cx="16230600" cy="782171"/>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000000"/>
                </a:solidFill>
                <a:latin typeface="Cambria Bold"/>
                <a:ea typeface="Cambria Bold"/>
                <a:cs typeface="Cambria Bold"/>
                <a:sym typeface="Cambria Bold"/>
              </a:rPr>
              <a:t>Powerful New Tool: </a:t>
            </a:r>
            <a:r>
              <a:rPr lang="en-US" sz="2200">
                <a:solidFill>
                  <a:srgbClr val="000000"/>
                </a:solidFill>
                <a:latin typeface="Cambria"/>
                <a:ea typeface="Cambria"/>
                <a:cs typeface="Cambria"/>
                <a:sym typeface="Cambria"/>
              </a:rPr>
              <a:t>The Camouflage Optimization Algorithm (COA) is a successful new method inspired by how animals change color to blend into their surroundings.</a:t>
            </a:r>
          </a:p>
        </p:txBody>
      </p:sp>
      <p:sp>
        <p:nvSpPr>
          <p:cNvPr id="4" name="TextBox 4"/>
          <p:cNvSpPr txBox="1"/>
          <p:nvPr/>
        </p:nvSpPr>
        <p:spPr>
          <a:xfrm>
            <a:off x="1028700" y="2733197"/>
            <a:ext cx="16230600" cy="782171"/>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000000"/>
                </a:solidFill>
                <a:latin typeface="Cambria Bold"/>
                <a:ea typeface="Cambria Bold"/>
                <a:cs typeface="Cambria Bold"/>
                <a:sym typeface="Cambria Bold"/>
              </a:rPr>
              <a:t>Better Performance:</a:t>
            </a:r>
            <a:r>
              <a:rPr lang="en-US" sz="2200">
                <a:solidFill>
                  <a:srgbClr val="000000"/>
                </a:solidFill>
                <a:latin typeface="Cambria"/>
                <a:ea typeface="Cambria"/>
                <a:cs typeface="Cambria"/>
                <a:sym typeface="Cambria"/>
              </a:rPr>
              <a:t> In extensive testing, COA consistently performed better than famous algorithms like Genetic Algorithms (GA) and Whale Swarm Optimization (WSO).</a:t>
            </a:r>
          </a:p>
        </p:txBody>
      </p:sp>
      <p:sp>
        <p:nvSpPr>
          <p:cNvPr id="5" name="TextBox 5"/>
          <p:cNvSpPr txBox="1"/>
          <p:nvPr/>
        </p:nvSpPr>
        <p:spPr>
          <a:xfrm>
            <a:off x="1028700" y="3842258"/>
            <a:ext cx="16230600" cy="782171"/>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000000"/>
                </a:solidFill>
                <a:latin typeface="Cambria Bold"/>
                <a:ea typeface="Cambria Bold"/>
                <a:cs typeface="Cambria Bold"/>
                <a:sym typeface="Cambria Bold"/>
              </a:rPr>
              <a:t>Reliable and Stable:</a:t>
            </a:r>
            <a:r>
              <a:rPr lang="en-US" sz="2200">
                <a:solidFill>
                  <a:srgbClr val="000000"/>
                </a:solidFill>
                <a:latin typeface="Cambria"/>
                <a:ea typeface="Cambria"/>
                <a:cs typeface="Cambria"/>
                <a:sym typeface="Cambria"/>
              </a:rPr>
              <a:t> It is very good at finding the best solution without getting "stuck" in local traps, making it a dependable choice for tough problems.</a:t>
            </a:r>
          </a:p>
        </p:txBody>
      </p:sp>
      <p:sp>
        <p:nvSpPr>
          <p:cNvPr id="6" name="TextBox 6"/>
          <p:cNvSpPr txBox="1"/>
          <p:nvPr/>
        </p:nvSpPr>
        <p:spPr>
          <a:xfrm>
            <a:off x="7663681" y="5432824"/>
            <a:ext cx="3914192" cy="688975"/>
          </a:xfrm>
          <a:prstGeom prst="rect">
            <a:avLst/>
          </a:prstGeom>
        </p:spPr>
        <p:txBody>
          <a:bodyPr lIns="0" tIns="0" rIns="0" bIns="0" rtlCol="0" anchor="t">
            <a:spAutoFit/>
          </a:bodyPr>
          <a:lstStyle/>
          <a:p>
            <a:pPr algn="just">
              <a:lnSpc>
                <a:spcPts val="5599"/>
              </a:lnSpc>
              <a:spcBef>
                <a:spcPct val="0"/>
              </a:spcBef>
            </a:pPr>
            <a:r>
              <a:rPr lang="en-US" sz="3999" b="1">
                <a:solidFill>
                  <a:srgbClr val="000000"/>
                </a:solidFill>
                <a:latin typeface="Cambria Bold"/>
                <a:ea typeface="Cambria Bold"/>
                <a:cs typeface="Cambria Bold"/>
                <a:sym typeface="Cambria Bold"/>
              </a:rPr>
              <a:t>Phase 2 Plan</a:t>
            </a:r>
          </a:p>
        </p:txBody>
      </p:sp>
      <p:sp>
        <p:nvSpPr>
          <p:cNvPr id="7" name="TextBox 7"/>
          <p:cNvSpPr txBox="1"/>
          <p:nvPr/>
        </p:nvSpPr>
        <p:spPr>
          <a:xfrm>
            <a:off x="1028700" y="8973212"/>
            <a:ext cx="16230600" cy="391720"/>
          </a:xfrm>
          <a:prstGeom prst="rect">
            <a:avLst/>
          </a:prstGeom>
        </p:spPr>
        <p:txBody>
          <a:bodyPr lIns="0" tIns="0" rIns="0" bIns="0" rtlCol="0" anchor="t">
            <a:spAutoFit/>
          </a:bodyPr>
          <a:lstStyle/>
          <a:p>
            <a:pPr marL="474981" lvl="1" indent="-237491" algn="just">
              <a:lnSpc>
                <a:spcPts val="3080"/>
              </a:lnSpc>
              <a:buFont typeface="Arial"/>
              <a:buChar char="•"/>
            </a:pPr>
            <a:r>
              <a:rPr lang="en-US" sz="2200" b="1">
                <a:solidFill>
                  <a:srgbClr val="000000"/>
                </a:solidFill>
                <a:latin typeface="Cambria Bold"/>
                <a:ea typeface="Cambria Bold"/>
                <a:cs typeface="Cambria Bold"/>
                <a:sym typeface="Cambria Bold"/>
              </a:rPr>
              <a:t>Implementation of Second Algorithm:</a:t>
            </a:r>
            <a:r>
              <a:rPr lang="en-US" sz="2200">
                <a:solidFill>
                  <a:srgbClr val="000000"/>
                </a:solidFill>
                <a:latin typeface="Cambria"/>
                <a:ea typeface="Cambria"/>
                <a:cs typeface="Cambria"/>
                <a:sym typeface="Cambria"/>
              </a:rPr>
              <a:t> Integrate the second planned metaheuristic algorithm for comparative analysis.</a:t>
            </a:r>
          </a:p>
        </p:txBody>
      </p:sp>
      <p:sp>
        <p:nvSpPr>
          <p:cNvPr id="8" name="TextBox 8"/>
          <p:cNvSpPr txBox="1"/>
          <p:nvPr/>
        </p:nvSpPr>
        <p:spPr>
          <a:xfrm>
            <a:off x="1028700" y="7304020"/>
            <a:ext cx="16230600" cy="782171"/>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000000"/>
                </a:solidFill>
                <a:latin typeface="Cambria Bold"/>
                <a:ea typeface="Cambria Bold"/>
                <a:cs typeface="Cambria Bold"/>
                <a:sym typeface="Cambria Bold"/>
              </a:rPr>
              <a:t>Extended Dataset Scope:</a:t>
            </a:r>
            <a:r>
              <a:rPr lang="en-US" sz="2200">
                <a:solidFill>
                  <a:srgbClr val="000000"/>
                </a:solidFill>
                <a:latin typeface="Cambria"/>
                <a:ea typeface="Cambria"/>
                <a:cs typeface="Cambria"/>
                <a:sym typeface="Cambria"/>
              </a:rPr>
              <a:t> The project scope will be broadened to include the CEC 2014 dataset, providing a more comprehensive baseline for performance validation.</a:t>
            </a:r>
          </a:p>
        </p:txBody>
      </p:sp>
      <p:sp>
        <p:nvSpPr>
          <p:cNvPr id="9" name="TextBox 9"/>
          <p:cNvSpPr txBox="1"/>
          <p:nvPr/>
        </p:nvSpPr>
        <p:spPr>
          <a:xfrm>
            <a:off x="1028700" y="6274199"/>
            <a:ext cx="16230600" cy="782171"/>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000000"/>
                </a:solidFill>
                <a:latin typeface="Cambria Bold"/>
                <a:ea typeface="Cambria Bold"/>
                <a:cs typeface="Cambria Bold"/>
                <a:sym typeface="Cambria Bold"/>
              </a:rPr>
              <a:t>Rigorous Testing &amp; Ablation Study:</a:t>
            </a:r>
            <a:r>
              <a:rPr lang="en-US" sz="2200">
                <a:solidFill>
                  <a:srgbClr val="000000"/>
                </a:solidFill>
                <a:latin typeface="Cambria"/>
                <a:ea typeface="Cambria"/>
                <a:cs typeface="Cambria"/>
                <a:sym typeface="Cambria"/>
              </a:rPr>
              <a:t> We will expand our evaluation to include more dimensions and a complete range of benchmark functions through F30 to analyze the specific contribution of each COA component.</a:t>
            </a:r>
          </a:p>
        </p:txBody>
      </p:sp>
      <p:sp>
        <p:nvSpPr>
          <p:cNvPr id="10" name="AutoShape 10"/>
          <p:cNvSpPr/>
          <p:nvPr/>
        </p:nvSpPr>
        <p:spPr>
          <a:xfrm>
            <a:off x="1028700" y="5099449"/>
            <a:ext cx="16230600"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1028700" y="8333841"/>
            <a:ext cx="16230600" cy="391720"/>
          </a:xfrm>
          <a:prstGeom prst="rect">
            <a:avLst/>
          </a:prstGeom>
        </p:spPr>
        <p:txBody>
          <a:bodyPr lIns="0" tIns="0" rIns="0" bIns="0" rtlCol="0" anchor="t">
            <a:spAutoFit/>
          </a:bodyPr>
          <a:lstStyle/>
          <a:p>
            <a:pPr marL="474981" lvl="1" indent="-237491" algn="l">
              <a:lnSpc>
                <a:spcPts val="3080"/>
              </a:lnSpc>
              <a:buFont typeface="Arial"/>
              <a:buChar char="•"/>
            </a:pPr>
            <a:r>
              <a:rPr lang="en-US" sz="2200" b="1">
                <a:solidFill>
                  <a:srgbClr val="000000"/>
                </a:solidFill>
                <a:latin typeface="Cambria Bold"/>
                <a:ea typeface="Cambria Bold"/>
                <a:cs typeface="Cambria Bold"/>
                <a:sym typeface="Cambria Bold"/>
              </a:rPr>
              <a:t>Real-world Testing:</a:t>
            </a:r>
            <a:r>
              <a:rPr lang="en-US" sz="2200">
                <a:solidFill>
                  <a:srgbClr val="000000"/>
                </a:solidFill>
                <a:latin typeface="Cambria"/>
                <a:ea typeface="Cambria"/>
                <a:cs typeface="Cambria"/>
                <a:sym typeface="Cambria"/>
              </a:rPr>
              <a:t> Apply the optimized COA to practical engineering problems beyond synthetic benchmark functions.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89515" y="452437"/>
            <a:ext cx="4746668" cy="1028702"/>
          </a:xfrm>
          <a:prstGeom prst="rect">
            <a:avLst/>
          </a:prstGeom>
        </p:spPr>
        <p:txBody>
          <a:bodyPr lIns="0" tIns="0" rIns="0" bIns="0" rtlCol="0" anchor="t">
            <a:spAutoFit/>
          </a:bodyPr>
          <a:lstStyle/>
          <a:p>
            <a:pPr algn="just">
              <a:lnSpc>
                <a:spcPts val="8399"/>
              </a:lnSpc>
            </a:pPr>
            <a:r>
              <a:rPr lang="en-US" sz="5999" b="1">
                <a:solidFill>
                  <a:srgbClr val="000000"/>
                </a:solidFill>
                <a:latin typeface="Cambria Bold"/>
                <a:ea typeface="Cambria Bold"/>
                <a:cs typeface="Cambria Bold"/>
                <a:sym typeface="Cambria Bold"/>
              </a:rPr>
              <a:t>Reference</a:t>
            </a:r>
          </a:p>
        </p:txBody>
      </p:sp>
      <p:sp>
        <p:nvSpPr>
          <p:cNvPr id="3" name="TextBox 3"/>
          <p:cNvSpPr txBox="1"/>
          <p:nvPr/>
        </p:nvSpPr>
        <p:spPr>
          <a:xfrm>
            <a:off x="1028700" y="2018910"/>
            <a:ext cx="16230600" cy="6640194"/>
          </a:xfrm>
          <a:prstGeom prst="rect">
            <a:avLst/>
          </a:prstGeom>
        </p:spPr>
        <p:txBody>
          <a:bodyPr lIns="0" tIns="0" rIns="0" bIns="0" rtlCol="0" anchor="t">
            <a:spAutoFit/>
          </a:bodyPr>
          <a:lstStyle/>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Cheng, G., et al. (2017). "Problem Definitions and Evaluation Criteria for the CEC 2017 Special Session and Competition on Single Objective Real-Parameter Numerical Optimization." </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Grosche, T. (2008). "Foundations of Metaheuristics." </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Shehab, M., et al. (2024). "Nature-inspired Metaheuristic Algorithms: A comprehensive review." </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Joseph, R. (2000). "Chameleons and camouflage." </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Escobar-Cuevas, et al. (2024). "Latin Hypercube Sampling for Initialization." </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Joseph, R. (2000), "Chameleons and camouflage,".</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Stuart-Fox, D., Moussalli, A. and Whiting, M. J. (2008), "Predator-specific camouflage in chameleons," Biology Letters, The Royal Society, Vol. 4 No. 4, pp. 326-329</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Escobar-Cuevas, H., Cuevas, E., Avila, K. and Avalos, O. (2024), "An advanced initialization technique for metaheuristic optimization: a fusion of Latin hypercube sampling and evolutionary behaviors," Computational &amp; Applied Mathematics.</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J. Kennedy and R. C. Eberhart, “Particle Swarm Optimization,” in Proc., Australia, 1995, pp. 1942–1948.</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Mirjalili, S., Mirjalili, S. M., &amp; Lewis, A. (2014). Grey Wolf Optimizer. Advances in Engineering Software, 69, 46–61. doi:10.1016/j.advengsoft.2013.12.007 </a:t>
            </a:r>
          </a:p>
          <a:p>
            <a:pPr marL="474984" lvl="1" indent="-237492" algn="just">
              <a:lnSpc>
                <a:spcPts val="3080"/>
              </a:lnSpc>
              <a:buFont typeface="Arial"/>
              <a:buChar char="•"/>
            </a:pPr>
            <a:r>
              <a:rPr lang="en-US" sz="2200" spc="110">
                <a:solidFill>
                  <a:srgbClr val="000000"/>
                </a:solidFill>
                <a:latin typeface="Cambria"/>
                <a:ea typeface="Cambria"/>
                <a:cs typeface="Cambria"/>
                <a:sym typeface="Cambria"/>
              </a:rPr>
              <a:t>Dorigo, M., Maniezzo, V., &amp; Colorni, A. (1991). Ant System: Optimization by a colony of cooperating agents. In E. S. (Ed.), Proceedings of the European Conference on Artificial Life (pp. 134–142). Elsevier.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299180" y="4264979"/>
            <a:ext cx="6273820" cy="1509003"/>
          </a:xfrm>
          <a:prstGeom prst="rect">
            <a:avLst/>
          </a:prstGeom>
        </p:spPr>
        <p:txBody>
          <a:bodyPr wrap="square" lIns="0" tIns="0" rIns="0" bIns="0" rtlCol="0" anchor="t">
            <a:spAutoFit/>
          </a:bodyPr>
          <a:lstStyle/>
          <a:p>
            <a:pPr algn="ctr">
              <a:lnSpc>
                <a:spcPts val="12880"/>
              </a:lnSpc>
            </a:pPr>
            <a:r>
              <a:rPr lang="en-US" sz="9200" b="1" dirty="0">
                <a:solidFill>
                  <a:srgbClr val="000000"/>
                </a:solidFill>
                <a:latin typeface="Cambria Bold"/>
                <a:ea typeface="Cambria Bold"/>
                <a:cs typeface="Cambria Bold"/>
                <a:sym typeface="Cambri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2065</Words>
  <Application>Microsoft Office PowerPoint</Application>
  <PresentationFormat>Custom</PresentationFormat>
  <Paragraphs>160</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Cambria Bold Italics</vt:lpstr>
      <vt:lpstr>Cambria</vt:lpstr>
      <vt:lpstr>Arial</vt:lpstr>
      <vt:lpstr>Calibri</vt:lpstr>
      <vt:lpstr>Comic Sans Bold</vt:lpstr>
      <vt:lpstr>Cambria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Novel Metaheuristic algorithms for problem solving</dc:title>
  <cp:lastModifiedBy>SAYANTAN GOLDER</cp:lastModifiedBy>
  <cp:revision>2</cp:revision>
  <dcterms:created xsi:type="dcterms:W3CDTF">2006-08-16T00:00:00Z</dcterms:created>
  <dcterms:modified xsi:type="dcterms:W3CDTF">2026-03-03T01:32:34Z</dcterms:modified>
  <dc:identifier>DAHCQnCuBJM</dc:identifier>
</cp:coreProperties>
</file>